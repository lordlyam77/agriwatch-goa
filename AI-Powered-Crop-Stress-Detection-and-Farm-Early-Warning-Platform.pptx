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F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0"/>
            <a:ext cx="475488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731520"/>
            <a:ext cx="6400800" cy="5303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7706"/>
                </a:solidFill>
                <a:latin typeface="Montserrat"/>
              </a:defRPr>
            </a:pPr>
            <a:r>
              <a:t>🌿 SANKALP SETU HACKATHON 2026 • TRACK #4</a:t>
            </a:r>
          </a:p>
          <a:p>
            <a:pPr>
              <a:spcAft>
                <a:spcPts val="800"/>
              </a:spcAft>
              <a:defRPr sz="3600" b="1">
                <a:solidFill>
                  <a:srgbClr val="16A34A"/>
                </a:solidFill>
                <a:latin typeface="Montserrat"/>
              </a:defRPr>
            </a:pPr>
            <a:r>
              <a:t>AgriWatch Goa</a:t>
            </a:r>
          </a:p>
          <a:p>
            <a:pPr>
              <a:spcAft>
                <a:spcPts val="1400"/>
              </a:spcAft>
              <a:defRPr sz="2800" b="1">
                <a:solidFill>
                  <a:srgbClr val="FFFFFF"/>
                </a:solidFill>
                <a:latin typeface="Montserrat"/>
              </a:defRPr>
            </a:pPr>
            <a:r>
              <a:t>AI-Powered Crop Stress Detection &amp;</a:t>
            </a:r>
            <a:br/>
            <a:r>
              <a:t>Farm Early-Warning Platform</a:t>
            </a:r>
          </a:p>
          <a:p>
            <a:pPr>
              <a:spcAft>
                <a:spcPts val="2400"/>
              </a:spcAft>
              <a:defRPr sz="1500">
                <a:solidFill>
                  <a:srgbClr val="CBD5E1"/>
                </a:solidFill>
                <a:latin typeface="Source Sans 3"/>
              </a:defRPr>
            </a:pPr>
            <a:r>
              <a:t>Predictive agro-meteorological intelligence for Goa's smallholder farmers across all 12 Talukas.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754880"/>
            <a:ext cx="3108960" cy="1280160"/>
          </a:xfrm>
          <a:prstGeom prst="roundRect">
            <a:avLst/>
          </a:prstGeom>
          <a:solidFill>
            <a:srgbClr val="103422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4882896"/>
            <a:ext cx="2779776" cy="1024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  <a:latin typeface="Montserrat"/>
              </a:defRPr>
            </a:pPr>
            <a:r>
              <a:t>🏛️ Host &amp; Track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D97706"/>
                </a:solidFill>
                <a:latin typeface="Source Sans 3"/>
              </a:rPr>
              <a:t>Venue: </a:t>
            </a:r>
            <a:r>
              <a:rPr sz="1200">
                <a:solidFill>
                  <a:srgbClr val="FFFFFF"/>
                </a:solidFill>
                <a:latin typeface="Source Sans 3"/>
              </a:rPr>
              <a:t>Rosary College, Navelim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D97706"/>
                </a:solidFill>
                <a:latin typeface="Source Sans 3"/>
              </a:rPr>
              <a:t>Track: </a:t>
            </a:r>
            <a:r>
              <a:rPr sz="1200">
                <a:solidFill>
                  <a:srgbClr val="FFFFFF"/>
                </a:solidFill>
                <a:latin typeface="Source Sans 3"/>
              </a:rPr>
              <a:t>Agriculture &amp; Rural Innovation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4754880"/>
            <a:ext cx="3108960" cy="1280160"/>
          </a:xfrm>
          <a:prstGeom prst="roundRect">
            <a:avLst/>
          </a:prstGeom>
          <a:solidFill>
            <a:srgbClr val="103422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87952" y="4882896"/>
            <a:ext cx="2779776" cy="1024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97706"/>
                </a:solidFill>
                <a:latin typeface="Montserrat"/>
              </a:defRPr>
            </a:pPr>
            <a:r>
              <a:t>👥 4-Member Team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D97706"/>
                </a:solidFill>
                <a:latin typeface="Source Sans 3"/>
              </a:rPr>
              <a:t>Project: </a:t>
            </a:r>
            <a:r>
              <a:rPr sz="1200">
                <a:solidFill>
                  <a:srgbClr val="FFFFFF"/>
                </a:solidFill>
                <a:latin typeface="Source Sans 3"/>
              </a:rPr>
              <a:t>AgriWatch Goa Prototype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D97706"/>
                </a:solidFill>
                <a:latin typeface="Source Sans 3"/>
              </a:rPr>
              <a:t>Focus: </a:t>
            </a:r>
            <a:r>
              <a:rPr sz="1200">
                <a:solidFill>
                  <a:srgbClr val="FFFFFF"/>
                </a:solidFill>
                <a:latin typeface="Source Sans 3"/>
              </a:rPr>
              <a:t>Low-Tech Smallholder Inclusion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pi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0"/>
            <a:ext cx="457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Goa's Farmers Need Warnings Before Crop Damage Happens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Why traditional visual scouting fails smallholder Goan farmers during monsoons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583680" cy="10515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91056"/>
            <a:ext cx="6254496" cy="7955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🌧️ Extreme Rainfall &amp; Weather Volatility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Monsoon Shifts: </a:t>
            </a:r>
            <a:r>
              <a:rPr sz="1200">
                <a:solidFill>
                  <a:srgbClr val="1A2820"/>
                </a:solidFill>
                <a:latin typeface="Source Sans 3"/>
              </a:rPr>
              <a:t>Sudden heavy rain spells saturate coastal and khazan soils, triggering rapid root asphyxiation and waterlogging.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6583680" cy="10515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25496"/>
            <a:ext cx="6254496" cy="7955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🌱 Soil Moisture &amp; Acidic Laterite Stress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Laterite Chemistry: </a:t>
            </a:r>
            <a:r>
              <a:rPr sz="1200">
                <a:solidFill>
                  <a:srgbClr val="1A2820"/>
                </a:solidFill>
                <a:latin typeface="Source Sans 3"/>
              </a:rPr>
              <a:t>Goa's naturally acidic soils (pH 4.8–5.8) lock essential micronutrients when moisture fluctuates between extremes.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6583680" cy="10515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059935"/>
            <a:ext cx="6254496" cy="7955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🦠 Silent Disease &amp; Pest Proliferation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The 'Too-Late' Dilemma: </a:t>
            </a:r>
            <a:r>
              <a:rPr sz="1200">
                <a:solidFill>
                  <a:srgbClr val="1A2820"/>
                </a:solidFill>
                <a:latin typeface="Source Sans 3"/>
              </a:rPr>
              <a:t>Pathologies like Rice Blast and Cashew Dieback multiply invisibly days before physical foliar symptoms appear.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6583680" cy="10515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6217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/>
              <a:t>💡  </a:t>
            </a:r>
            <a:r>
              <a:rPr b="1" sz="1250">
                <a:solidFill>
                  <a:srgbClr val="0C2B1B"/>
                </a:solidFill>
                <a:latin typeface="Source Sans 3"/>
              </a:rPr>
              <a:t>Key Takeaway: </a:t>
            </a:r>
            <a:r>
              <a:rPr sz="1250">
                <a:solidFill>
                  <a:srgbClr val="1A2820"/>
                </a:solidFill>
                <a:latin typeface="Source Sans 3"/>
              </a:rPr>
              <a:t>Current agricultural support is largely reactive (compensating post-loss). Farmers need predictive, localized early warnings delivered in time to save crops.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From Reactive Agriculture to Predictive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Fusing meteorological telemetry, soil parameters, and AI inference into farmer advisories</a:t>
            </a:r>
          </a:p>
        </p:txBody>
      </p:sp>
      <p:pic>
        <p:nvPicPr>
          <p:cNvPr id="4" name="Picture 3" descr="slide3_pi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120640" cy="39776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126480" y="1371600"/>
            <a:ext cx="2606040" cy="123444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91072" y="1499616"/>
            <a:ext cx="2276856" cy="978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📍 12 Goa Talukas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Coverage: </a:t>
            </a:r>
            <a:r>
              <a:rPr sz="1200">
                <a:solidFill>
                  <a:srgbClr val="1A2820"/>
                </a:solidFill>
                <a:latin typeface="Source Sans 3"/>
              </a:rPr>
              <a:t>Hyper-localized GIS mapping from Tiswadi to Canacona.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371600"/>
            <a:ext cx="2606040" cy="123444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79992" y="1499616"/>
            <a:ext cx="2276856" cy="978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🌾 Multi-Stress AI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Predictions: </a:t>
            </a:r>
            <a:r>
              <a:rPr sz="1200">
                <a:solidFill>
                  <a:srgbClr val="1A2820"/>
                </a:solidFill>
                <a:latin typeface="Source Sans 3"/>
              </a:rPr>
              <a:t>Evaluates Drought, Waterlog, Pest, Disease &amp; Heat.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743200"/>
            <a:ext cx="2606040" cy="123444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2871216"/>
            <a:ext cx="2276856" cy="978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🔬 Visual Leaf AI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Diagnostics: </a:t>
            </a:r>
            <a:r>
              <a:rPr sz="1200">
                <a:solidFill>
                  <a:srgbClr val="1A2820"/>
                </a:solidFill>
                <a:latin typeface="Source Sans 3"/>
              </a:rPr>
              <a:t>Extracts colorimetry &amp; necrotic lesion biomarkers.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2743200"/>
            <a:ext cx="2606040" cy="123444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79992" y="2871216"/>
            <a:ext cx="2276856" cy="978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🔍 Explainable AI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Transparency: </a:t>
            </a:r>
            <a:r>
              <a:rPr sz="1200">
                <a:solidFill>
                  <a:srgbClr val="1A2820"/>
                </a:solidFill>
                <a:latin typeface="Source Sans 3"/>
              </a:rPr>
              <a:t>Decomposes Gini feature drivers for every alert.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4114800"/>
            <a:ext cx="2606040" cy="123444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4242816"/>
            <a:ext cx="2276856" cy="978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🌐 Trilingual Engine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Vernacular: </a:t>
            </a:r>
            <a:r>
              <a:rPr sz="1200">
                <a:solidFill>
                  <a:srgbClr val="1A2820"/>
                </a:solidFill>
                <a:latin typeface="Source Sans 3"/>
              </a:rPr>
              <a:t>Native Konkani (देवनागरी), Hindi, and English.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4114800"/>
            <a:ext cx="2606040" cy="123444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4242816"/>
            <a:ext cx="2276856" cy="978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📱 2G SMS Inclusion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Delivery: </a:t>
            </a:r>
            <a:r>
              <a:rPr sz="1200">
                <a:solidFill>
                  <a:srgbClr val="1A2820"/>
                </a:solidFill>
                <a:latin typeface="Source Sans 3"/>
              </a:rPr>
              <a:t>Accessible on basic feature phones and WhatsApp.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77840"/>
            <a:ext cx="10789920" cy="7315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669279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/>
              <a:t>🌾  </a:t>
            </a:r>
            <a:r>
              <a:rPr b="1" sz="1250">
                <a:solidFill>
                  <a:srgbClr val="0C2B1B"/>
                </a:solidFill>
                <a:latin typeface="Source Sans 3"/>
              </a:rPr>
              <a:t>Key Takeaway: </a:t>
            </a:r>
            <a:r>
              <a:rPr sz="1250">
                <a:solidFill>
                  <a:srgbClr val="1A2820"/>
                </a:solidFill>
                <a:latin typeface="Source Sans 3"/>
              </a:rPr>
              <a:t>Integrated Pipeline: Telemetry Ingestion ➔ Machine Learning Inference ➔ XAI Verification ➔ Actionable Farmer Advisory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End-to-End System Architecture &amp;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A modular, low-overhead pipeline from satellite telemetry ingestion to village-level delivery</a:t>
            </a:r>
          </a:p>
        </p:txBody>
      </p:sp>
      <p:pic>
        <p:nvPicPr>
          <p:cNvPr id="4" name="Picture 3" descr="slide4_pi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371600"/>
            <a:ext cx="10058400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572000"/>
            <a:ext cx="3429000" cy="17373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4700016"/>
            <a:ext cx="3099816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45233"/>
                </a:solidFill>
                <a:latin typeface="Montserrat"/>
              </a:defRPr>
            </a:pPr>
            <a:r>
              <a:t>🧠 Core AI &amp; Analytics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Python 3.14 &amp; Scikit-learn: </a:t>
            </a:r>
            <a:r>
              <a:rPr sz="1200">
                <a:solidFill>
                  <a:srgbClr val="1A2820"/>
                </a:solidFill>
                <a:latin typeface="Source Sans 3"/>
              </a:rPr>
              <a:t>Ensemble algorithms &amp; data pipes.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Random Forest Models: </a:t>
            </a:r>
            <a:r>
              <a:rPr sz="1200">
                <a:solidFill>
                  <a:srgbClr val="1A2820"/>
                </a:solidFill>
                <a:latin typeface="Source Sans 3"/>
              </a:rPr>
              <a:t>Primary stress classifier + 6 sub-models.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StandardScaler &amp; One-Hot: </a:t>
            </a:r>
            <a:r>
              <a:rPr sz="1200">
                <a:solidFill>
                  <a:srgbClr val="1A2820"/>
                </a:solidFill>
                <a:latin typeface="Source Sans 3"/>
              </a:rPr>
              <a:t>Normalized environmental telemetry.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572000"/>
            <a:ext cx="3429000" cy="17373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4700016"/>
            <a:ext cx="3099816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45233"/>
                </a:solidFill>
                <a:latin typeface="Montserrat"/>
              </a:defRPr>
            </a:pPr>
            <a:r>
              <a:t>🖥️ Interactive Dashboard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Streamlit Web Framework: </a:t>
            </a:r>
            <a:r>
              <a:rPr sz="1200">
                <a:solidFill>
                  <a:srgbClr val="1A2820"/>
                </a:solidFill>
                <a:latin typeface="Source Sans 3"/>
              </a:rPr>
              <a:t>Fast, reactive glassmorphic UI.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Folium GIS Mapping: </a:t>
            </a:r>
            <a:r>
              <a:rPr sz="1200">
                <a:solidFill>
                  <a:srgbClr val="1A2820"/>
                </a:solidFill>
                <a:latin typeface="Source Sans 3"/>
              </a:rPr>
              <a:t>Geospatial color-coded taluka markers.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Plotly Interactive Charts: </a:t>
            </a:r>
            <a:r>
              <a:rPr sz="1200">
                <a:solidFill>
                  <a:srgbClr val="1A2820"/>
                </a:solidFill>
                <a:latin typeface="Source Sans 3"/>
              </a:rPr>
              <a:t>Radar risk plots &amp; XAI bar graphs.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572000"/>
            <a:ext cx="3429000" cy="17373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4700016"/>
            <a:ext cx="3099816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45233"/>
                </a:solidFill>
                <a:latin typeface="Montserrat"/>
              </a:defRPr>
            </a:pPr>
            <a:r>
              <a:t>📡 Ingestion &amp; Multi-Channel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OpenWeatherMap Live API: </a:t>
            </a:r>
            <a:r>
              <a:rPr sz="1200">
                <a:solidFill>
                  <a:srgbClr val="1A2820"/>
                </a:solidFill>
                <a:latin typeface="Source Sans 3"/>
              </a:rPr>
              <a:t>Deterministic Goan simulation modes.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NumPy &amp; PIL Colorimetry: </a:t>
            </a:r>
            <a:r>
              <a:rPr sz="1200">
                <a:solidFill>
                  <a:srgbClr val="1A2820"/>
                </a:solidFill>
                <a:latin typeface="Source Sans 3"/>
              </a:rPr>
              <a:t>Foliar lesion segmentation.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Twilio SMS &amp; WhatsApp: </a:t>
            </a:r>
            <a:r>
              <a:rPr sz="1200">
                <a:solidFill>
                  <a:srgbClr val="1A2820"/>
                </a:solidFill>
                <a:latin typeface="Source Sans 3"/>
              </a:rPr>
              <a:t>Direct 2G farmer advisory delivery.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Real-Time Monitoring Across All 12 Goa Talukas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State-wide agro-climatic surveillance dashboard for Directorate of Agriculture &amp; ZAO officers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10972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591056"/>
            <a:ext cx="4882896" cy="841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🗺️ 12 Talukas Monitored Live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Complete Goa Coverage: </a:t>
            </a:r>
            <a:r>
              <a:rPr sz="1200">
                <a:solidFill>
                  <a:srgbClr val="1A2820"/>
                </a:solidFill>
                <a:latin typeface="Source Sans 3"/>
              </a:rPr>
              <a:t>Covers all North and South Goa talukas from Pernem to Canacona with pre-configured agro-climatic zones.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10972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82512" y="1591056"/>
            <a:ext cx="4882896" cy="841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🌐 Interactive GIS Map &amp; Satellites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Dual-Layer Mapping: </a:t>
            </a:r>
            <a:r>
              <a:rPr sz="1200">
                <a:solidFill>
                  <a:srgbClr val="1A2820"/>
                </a:solidFill>
                <a:latin typeface="Source Sans 3"/>
              </a:rPr>
              <a:t>Folium geospatial views with standard terrain maps and satellite crop canopy layers.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5212080" cy="10972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25496"/>
            <a:ext cx="4882896" cy="841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🟢 Risk-Based Dynamic Color Coding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Intuitive Status Tiers: </a:t>
            </a:r>
            <a:r>
              <a:rPr sz="1200">
                <a:solidFill>
                  <a:srgbClr val="1A2820"/>
                </a:solidFill>
                <a:latin typeface="Source Sans 3"/>
              </a:rPr>
              <a:t>Green (Normal), CadetBlue (Watch), Orange (Alert), and Red (Critical Intervention Required).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97480"/>
            <a:ext cx="5212080" cy="10972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825496"/>
            <a:ext cx="4882896" cy="841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🌦️ Real-Time Environmental Telemetry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14 Parameters Evaluated: </a:t>
            </a:r>
            <a:r>
              <a:rPr sz="1200">
                <a:solidFill>
                  <a:srgbClr val="1A2820"/>
                </a:solidFill>
                <a:latin typeface="Source Sans 3"/>
              </a:rPr>
              <a:t>Temperature, relative humidity, 24h rainfall, dry/wet streaks, soil moisture, and soil pH.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12080" cy="10972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059935"/>
            <a:ext cx="4882896" cy="841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📋 Taluka Vulnerability Watchlist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One-Click Drilldown: </a:t>
            </a:r>
            <a:r>
              <a:rPr sz="1200">
                <a:solidFill>
                  <a:srgbClr val="1A2820"/>
                </a:solidFill>
                <a:latin typeface="Source Sans 3"/>
              </a:rPr>
              <a:t>Instant summary cards displaying primary crops, ambient temp, soil pH, and immediate ICAR action plan.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212080" cy="109728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4059935"/>
            <a:ext cx="4882896" cy="841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🗣️ Trilingual Interface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Zero Language Barriers: </a:t>
            </a:r>
            <a:r>
              <a:rPr sz="1200">
                <a:solidFill>
                  <a:srgbClr val="1A2820"/>
                </a:solidFill>
                <a:latin typeface="Source Sans 3"/>
              </a:rPr>
              <a:t>Instant toggle between English, Konkani (गोंयची राजभास in Devanagari), and Hindi.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57800"/>
            <a:ext cx="10698480" cy="10515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332719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/>
              <a:t>📊  </a:t>
            </a:r>
            <a:r>
              <a:rPr b="1" sz="1250">
                <a:solidFill>
                  <a:srgbClr val="0C2B1B"/>
                </a:solidFill>
                <a:latin typeface="Source Sans 3"/>
              </a:rPr>
              <a:t>Key Takeaway: </a:t>
            </a:r>
            <a:r>
              <a:rPr sz="1250">
                <a:solidFill>
                  <a:srgbClr val="1A2820"/>
                </a:solidFill>
                <a:latin typeface="Source Sans 3"/>
              </a:rPr>
              <a:t>Agriculture directors and ZAO officers can survey the entire state's agricultural risk at a glance and dispatch targeted alerts from a single centralized dashboard.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Digital Kisan Crop Health &amp; Vulnerability Card (Prototype)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A prototype printable agro-meteorological advisory card bridging digital intelligence to the 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591056"/>
            <a:ext cx="4882896" cy="4590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📄 What the Digital Kisan Card Delivers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👤 Farmer &amp; Land Profile: </a:t>
            </a:r>
            <a:r>
              <a:rPr sz="1200">
                <a:solidFill>
                  <a:srgbClr val="1A2820"/>
                </a:solidFill>
                <a:latin typeface="Source Sans 3"/>
              </a:rPr>
              <a:t>Records farmer name, taluka, survey/parcel number, and Goan land types (Khazan, Morod, Keri).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🌦️ Meteorological Telemetry: </a:t>
            </a:r>
            <a:r>
              <a:rPr sz="1200">
                <a:solidFill>
                  <a:srgbClr val="1A2820"/>
                </a:solidFill>
                <a:latin typeface="Source Sans 3"/>
              </a:rPr>
              <a:t>Timestamped 24h rainfall, ambient temp, relative humidity, and consecutive wet/dry days.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🌱 Soil Health Telemetry: </a:t>
            </a:r>
            <a:r>
              <a:rPr sz="1200">
                <a:solidFill>
                  <a:srgbClr val="1A2820"/>
                </a:solidFill>
                <a:latin typeface="Source Sans 3"/>
              </a:rPr>
              <a:t>Goa laterite soil pH level (acidic loam) and root zone soil moisture percentage.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🤖 AI Agro-Stress Grading: </a:t>
            </a:r>
            <a:r>
              <a:rPr sz="1200">
                <a:solidFill>
                  <a:srgbClr val="1A2820"/>
                </a:solidFill>
                <a:latin typeface="Source Sans 3"/>
              </a:rPr>
              <a:t>Composite stress rating (Grade A to D) with active hazard classification.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🌿 ICAR-CCARI Prescriptions: </a:t>
            </a:r>
            <a:r>
              <a:rPr sz="1200">
                <a:solidFill>
                  <a:srgbClr val="1A2820"/>
                </a:solidFill>
                <a:latin typeface="Source Sans 3"/>
              </a:rPr>
              <a:t>Scientifically verified remediation protocol rendered in English and native Konkani.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🔲 Verification ID &amp; QR Concept: </a:t>
            </a:r>
            <a:r>
              <a:rPr sz="1200">
                <a:solidFill>
                  <a:srgbClr val="1A2820"/>
                </a:solidFill>
                <a:latin typeface="Source Sans 3"/>
              </a:rPr>
              <a:t>Unique tracking serial (e.g. GOA-KISAN-2026-PON-4819) with tamper-resistant verification hash.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3474720"/>
          </a:xfrm>
          <a:prstGeom prst="roundRect">
            <a:avLst/>
          </a:prstGeom>
          <a:solidFill>
            <a:srgbClr val="FEFDFA"/>
          </a:solidFill>
          <a:ln w="15240">
            <a:solidFill>
              <a:srgbClr val="1452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82512" y="1591056"/>
            <a:ext cx="4882896" cy="32186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🏛️ Prototype Certificate Layout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Govt Header: </a:t>
            </a:r>
            <a:r>
              <a:rPr sz="1200">
                <a:solidFill>
                  <a:srgbClr val="1A2820"/>
                </a:solidFill>
                <a:latin typeface="Source Sans 3"/>
              </a:rPr>
              <a:t>Government of Goa • Directorate of Agriculture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Advisory Authority: </a:t>
            </a:r>
            <a:r>
              <a:rPr sz="1200">
                <a:solidFill>
                  <a:srgbClr val="1A2820"/>
                </a:solidFill>
                <a:latin typeface="Source Sans 3"/>
              </a:rPr>
              <a:t>In Technical Guidance with ICAR-CCARI, Old Goa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Sample Record: </a:t>
            </a:r>
            <a:r>
              <a:rPr sz="1200">
                <a:solidFill>
                  <a:srgbClr val="1A2820"/>
                </a:solidFill>
                <a:latin typeface="Source Sans 3"/>
              </a:rPr>
              <a:t>Ramesh Naik | Ponda (South Goa) | Parcel: S-412/3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Current Assessment: </a:t>
            </a:r>
            <a:r>
              <a:rPr sz="1200">
                <a:solidFill>
                  <a:srgbClr val="1A2820"/>
                </a:solidFill>
                <a:latin typeface="Source Sans 3"/>
              </a:rPr>
              <a:t>Rice (Paddy) — Tillering Stage | Laterite Soil pH: 5.2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AI Classification: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🟡 GRADE B (WATCH) • Stress Index: 38.4%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Prescribed Advisory: </a:t>
            </a:r>
            <a:r>
              <a:rPr sz="1200">
                <a:solidFill>
                  <a:srgbClr val="1A2820"/>
                </a:solidFill>
                <a:latin typeface="Source Sans 3"/>
              </a:rPr>
              <a:t>Adopt Alternate Wetting &amp; Drying (AWD) water-saving.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Verification QR: </a:t>
            </a:r>
            <a:r>
              <a:rPr sz="1200">
                <a:solidFill>
                  <a:srgbClr val="1A2820"/>
                </a:solidFill>
                <a:latin typeface="Source Sans 3"/>
              </a:rPr>
              <a:t>[ 🔲 QR VERIFICATION ] • HASH: 48192026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166360"/>
            <a:ext cx="5212080" cy="11430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5257800"/>
            <a:ext cx="48463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/>
              <a:t>🏛️  </a:t>
            </a:r>
            <a:r>
              <a:rPr b="1" sz="1250">
                <a:solidFill>
                  <a:srgbClr val="0C2B1B"/>
                </a:solidFill>
                <a:latin typeface="Source Sans 3"/>
              </a:rPr>
              <a:t>Key Takeaway: </a:t>
            </a:r>
            <a:r>
              <a:rPr sz="1250">
                <a:solidFill>
                  <a:srgbClr val="1A2820"/>
                </a:solidFill>
                <a:latin typeface="Source Sans 3"/>
              </a:rPr>
              <a:t>Prototype concept designed for future government integration: can be printed at 190+ Village Panchayat e-Gram kiosks to support PMFBY crop insurance claims and ZAO subsidy verification.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The AI Engine: Multi-Target Random Forest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Evaluating multi-dimensional environmental signals across Goan agriculture</a:t>
            </a:r>
          </a:p>
        </p:txBody>
      </p:sp>
      <p:pic>
        <p:nvPicPr>
          <p:cNvPr id="4" name="Picture 3" descr="slide7_pi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371600"/>
            <a:ext cx="8686800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480560"/>
            <a:ext cx="5212080" cy="1874519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4608576"/>
            <a:ext cx="4882896" cy="1618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🧠 Machine Learning Architecture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Multi-Target Design: </a:t>
            </a:r>
            <a:r>
              <a:rPr sz="1200">
                <a:solidFill>
                  <a:srgbClr val="1A2820"/>
                </a:solidFill>
                <a:latin typeface="Source Sans 3"/>
              </a:rPr>
              <a:t>1 Primary Classifier (Overall Stress) + 6 specialized Binary Hazard Sub-Models (Drought, Waterlog, Pest, Disease, Heat, Soil pH).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Non-Linear Synthesis: </a:t>
            </a:r>
            <a:r>
              <a:rPr sz="1200">
                <a:solidFill>
                  <a:srgbClr val="1A2820"/>
                </a:solidFill>
                <a:latin typeface="Source Sans 3"/>
              </a:rPr>
              <a:t>Evaluates complex interactions (e.g. 50mm rain in low-lying Salcete causing blast vs. 80mm in sloped Sattari).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Engineered for Speed: </a:t>
            </a:r>
            <a:r>
              <a:rPr sz="1200">
                <a:solidFill>
                  <a:srgbClr val="1A2820"/>
                </a:solidFill>
                <a:latin typeface="Source Sans 3"/>
              </a:rPr>
              <a:t>Configured with n_jobs=1 for ultra-fast, in-process single-record inference under 0.05 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480560"/>
            <a:ext cx="5212080" cy="1874519"/>
          </a:xfrm>
          <a:prstGeom prst="roundRect">
            <a:avLst/>
          </a:prstGeom>
          <a:solidFill>
            <a:srgbClr val="F0F8F2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4608576"/>
            <a:ext cx="4882896" cy="16184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📊 Evaluation Benchmark Metrics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Primary Stress Classifier: </a:t>
            </a:r>
            <a:r>
              <a:rPr sz="1200">
                <a:solidFill>
                  <a:srgbClr val="1A2820"/>
                </a:solidFill>
                <a:latin typeface="Source Sans 3"/>
              </a:rPr>
              <a:t>91.86% Accuracy | 96.38% Precision | 94.14% ROC-AUC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Hazard Sub-Models: </a:t>
            </a:r>
            <a:r>
              <a:rPr sz="1200">
                <a:solidFill>
                  <a:srgbClr val="1A2820"/>
                </a:solidFill>
                <a:latin typeface="Source Sans 3"/>
              </a:rPr>
              <a:t>Drought: 97.5% | Waterlog: 99.5% | Pest Bloom: 97.9% | Fungal Disease: 98.9%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Evaluation Dataset Note: </a:t>
            </a:r>
            <a:r>
              <a:rPr sz="1200">
                <a:solidFill>
                  <a:srgbClr val="1A2820"/>
                </a:solidFill>
                <a:latin typeface="Source Sans 3"/>
              </a:rPr>
              <a:t>Trained on synthetic Goa agro-climatic data (3,500 samples); real-world field validation with ICAR/ZAO is our proposed next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Don't Just Predict Risk — Explain It (What-If &amp; XAI)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Opening the black box: Decomposing exact meteorological drivers of crop stress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365760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591056"/>
            <a:ext cx="488289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🧪 What-If Diagnostic Simulation Sandbox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Interactive Stress Injection: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Allows agricultural officers to simulate weather disruptions and observe AI model responses in real time.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Dedicated Confirm Controls: </a:t>
            </a:r>
            <a:r>
              <a:rPr sz="1200">
                <a:solidFill>
                  <a:srgbClr val="1A2820"/>
                </a:solidFill>
                <a:latin typeface="Source Sans 3"/>
              </a:rPr>
              <a:t>Features explicit confirmation triggers so users tweak sliders smoothly without mid-input reload lag.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Simulated Weather Factors: </a:t>
            </a:r>
            <a:r>
              <a:rPr sz="1200">
                <a:solidFill>
                  <a:srgbClr val="1A2820"/>
                </a:solidFill>
                <a:latin typeface="Source Sans 3"/>
              </a:rPr>
              <a:t>24h Rainfall (0–350mm) • Air Temperature (18–44°C) • Relative Humidity (25–100%)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Simulated Soil &amp; Biological: </a:t>
            </a:r>
            <a:r>
              <a:rPr sz="1200">
                <a:solidFill>
                  <a:srgbClr val="1A2820"/>
                </a:solidFill>
                <a:latin typeface="Source Sans 3"/>
              </a:rPr>
              <a:t>Consecutive Dry/Wet Days • Soil Moisture (10–100%) • Soil pH (4.0–8.0) • Pest/Disease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365760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82512" y="1591056"/>
            <a:ext cx="488289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🔍 Explainable AI (XAI) &amp; Actionable Guidance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Feature Importance Attribution: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Decomposes Gini decision weights so the model explicitly justifies why an alert was triggered.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No Black Box Guarantee: </a:t>
            </a:r>
            <a:r>
              <a:rPr sz="1200">
                <a:solidFill>
                  <a:srgbClr val="1A2820"/>
                </a:solidFill>
                <a:latin typeface="Source Sans 3"/>
              </a:rPr>
              <a:t>Officers can see which telemetry signals were most influential (e.g. Consecutive Dry Days: 0.216, Soil Moisture: 0.184).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6-Axis Spider / Radar Decomposition: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Plots multi-hazard stress probabilities across Drought, Waterlog, Pest, Disease, Heat, and Soil Acidity simultaneously.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ICAR-CCARI Prescriptions: </a:t>
            </a:r>
            <a:r>
              <a:rPr sz="1200">
                <a:solidFill>
                  <a:srgbClr val="1A2820"/>
                </a:solidFill>
                <a:latin typeface="Source Sans 3"/>
              </a:rPr>
              <a:t>Automatically maps predicted hazards to scientific remediation protocols in English and Konkani.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10698480" cy="10515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394959"/>
            <a:ext cx="10332719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/>
              <a:t>🔍  </a:t>
            </a:r>
            <a:r>
              <a:rPr b="1" sz="1250">
                <a:solidFill>
                  <a:srgbClr val="0C2B1B"/>
                </a:solidFill>
                <a:latin typeface="Source Sans 3"/>
              </a:rPr>
              <a:t>Key Takeaway: </a:t>
            </a:r>
            <a:r>
              <a:rPr sz="1250">
                <a:solidFill>
                  <a:srgbClr val="1A2820"/>
                </a:solidFill>
                <a:latin typeface="Source Sans 3"/>
              </a:rPr>
              <a:t>Explainable AI builds trust with agricultural officers and farmers by proving which environmental telemetry signals drove the model's prediction before any advisory is dispatched.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Multi-Modal Leaf Disease Scanner &amp; Telemetry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Combining computer-vision lesion detection with live Goan microclimatic telemetry</a:t>
            </a:r>
          </a:p>
        </p:txBody>
      </p:sp>
      <p:pic>
        <p:nvPicPr>
          <p:cNvPr id="4" name="Picture 3" descr="slide9_pi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371600"/>
            <a:ext cx="9784080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3931920"/>
            <a:ext cx="5212080" cy="24231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4059935"/>
            <a:ext cx="4882896" cy="2167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📸 Computer-Vision Leaf Analysis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Specimen Ingestion: </a:t>
            </a:r>
            <a:r>
              <a:rPr sz="1200">
                <a:solidFill>
                  <a:srgbClr val="1A2820"/>
                </a:solidFill>
                <a:latin typeface="Source Sans 3"/>
              </a:rPr>
              <a:t>Supports live photo uploads from mobile devices or one-click Goan field sample presets.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Colorimetry &amp; Lesion Masking: </a:t>
            </a:r>
            <a:r>
              <a:rPr sz="1200">
                <a:solidFill>
                  <a:srgbClr val="1A2820"/>
                </a:solidFill>
                <a:latin typeface="Source Sans 3"/>
              </a:rPr>
              <a:t>Computer vision algorithms analyze color distribution and necrotic tissue areas using NumPy &amp; PIL.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Target Goan Pathologies: </a:t>
            </a:r>
            <a:r>
              <a:rPr sz="1200">
                <a:solidFill>
                  <a:srgbClr val="1A2820"/>
                </a:solidFill>
                <a:latin typeface="Source Sans 3"/>
              </a:rPr>
              <a:t>Configured heuristics for Rice Blast (भाताचेर करपा), Cashew Shoot Blight (काजू सुकती), Coconut Bud Rot (पोंगो कुजणी), and Healthy Foliage.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931920"/>
            <a:ext cx="5212080" cy="24231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4059935"/>
            <a:ext cx="4882896" cy="2167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🔬 Environmental Context Fusion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Overcoming Pure-Vision Weakness: </a:t>
            </a:r>
            <a:r>
              <a:rPr sz="1200">
                <a:solidFill>
                  <a:srgbClr val="1A2820"/>
                </a:solidFill>
                <a:latin typeface="Source Sans 3"/>
              </a:rPr>
              <a:t>Standard visual inspection alone can mistake mud splatters or harmless sun scorching for active fungal infection.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Telemetry Fusion Heuristic: </a:t>
            </a:r>
            <a:r>
              <a:rPr sz="1200">
                <a:solidFill>
                  <a:srgbClr val="1A2820"/>
                </a:solidFill>
                <a:latin typeface="Source Sans 3"/>
              </a:rPr>
              <a:t>Our scanner checks whether current taluka weather supports active sporulation (e.g. Humidity &gt;85% + Temp 24–32°C).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Composite Risk Assessment: </a:t>
            </a:r>
            <a:r>
              <a:rPr sz="1200">
                <a:solidFill>
                  <a:srgbClr val="1A2820"/>
                </a:solidFill>
                <a:latin typeface="Source Sans 3"/>
              </a:rPr>
              <a:t>Combines visual foliar indicators with environmental conditions to produce a reliable composite risk assessment and ICAR-CCARI treatment advice.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591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C2B1B"/>
                </a:solidFill>
                <a:latin typeface="Montserrat"/>
              </a:defRPr>
            </a:pPr>
            <a:r>
              <a:t>Bringing the Warning Directly to the Farmer (Digital Inclusivity)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A6B56"/>
                </a:solidFill>
                <a:latin typeface="Source Sans 3"/>
              </a:defRPr>
            </a:pPr>
            <a:r>
              <a:t>Reaching smallholder farmers across Goa regardless of smartphone ownership or connectivity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14600" cy="15087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591056"/>
            <a:ext cx="2185416" cy="1252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📱 2G SMS Dispatch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Feature-Phone Ready: </a:t>
            </a:r>
            <a:r>
              <a:rPr sz="1200">
                <a:solidFill>
                  <a:srgbClr val="1A2820"/>
                </a:solidFill>
                <a:latin typeface="Source Sans 3"/>
              </a:rPr>
              <a:t>Concise alerts under 160 characters in native Konkani delivered to basic handsets.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514600" cy="15087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9312" y="1591056"/>
            <a:ext cx="2185416" cy="1252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💬 WhatsApp Broadcast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Village Groups: </a:t>
            </a:r>
            <a:r>
              <a:rPr sz="1200">
                <a:solidFill>
                  <a:srgbClr val="1A2820"/>
                </a:solidFill>
                <a:latin typeface="Source Sans 3"/>
              </a:rPr>
              <a:t>One-click pre-formatted text links for Village Panchayat farmer WhatsApp communities.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2514600" cy="15087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591056"/>
            <a:ext cx="2185416" cy="1252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🖥️ Command Center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Officer Dashboard: </a:t>
            </a:r>
            <a:r>
              <a:rPr sz="1200">
                <a:solidFill>
                  <a:srgbClr val="1A2820"/>
                </a:solidFill>
                <a:latin typeface="Source Sans 3"/>
              </a:rPr>
              <a:t>Interactive Streamlit web platform with GIS maps, What-If simulation, and analytics.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463040"/>
            <a:ext cx="2514600" cy="150876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5712" y="1591056"/>
            <a:ext cx="2185416" cy="1252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🧾 Printable Kisan Card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Physical Bridge: </a:t>
            </a:r>
            <a:r>
              <a:rPr sz="1200">
                <a:solidFill>
                  <a:srgbClr val="1A2820"/>
                </a:solidFill>
                <a:latin typeface="Source Sans 3"/>
              </a:rPr>
              <a:t>Printable advisory certificates for walk-in farmers at Panchayat e-Gram kiosks.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00400"/>
            <a:ext cx="3429000" cy="182880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328416"/>
            <a:ext cx="3099816" cy="15727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🌐 Trilingual Empowerment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Native Konkani (गोंयची राजभास): </a:t>
            </a:r>
            <a:r>
              <a:rPr sz="1200">
                <a:solidFill>
                  <a:srgbClr val="1A2820"/>
                </a:solidFill>
                <a:latin typeface="Source Sans 3"/>
              </a:rPr>
              <a:t>Devanagari script removes all literacy and language barriers.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Hindi &amp; English: </a:t>
            </a:r>
            <a:r>
              <a:rPr sz="1200">
                <a:solidFill>
                  <a:srgbClr val="1A2820"/>
                </a:solidFill>
                <a:latin typeface="Source Sans 3"/>
              </a:rPr>
              <a:t>Full state and national administrative accessibility.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200400"/>
            <a:ext cx="3429000" cy="182880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3328416"/>
            <a:ext cx="3099816" cy="15727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🛡️ Anti-Spam Governance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15-Minute Cooldown: </a:t>
            </a:r>
            <a:r>
              <a:rPr sz="1200">
                <a:solidFill>
                  <a:srgbClr val="1A2820"/>
                </a:solidFill>
                <a:latin typeface="Source Sans 3"/>
              </a:rPr>
              <a:t>Intelligent rate limiter prevents bombarding farmers if sensors fluctuate.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High-Priority Queue: </a:t>
            </a:r>
            <a:r>
              <a:rPr sz="1200">
                <a:solidFill>
                  <a:srgbClr val="1A2820"/>
                </a:solidFill>
                <a:latin typeface="Source Sans 3"/>
              </a:rPr>
              <a:t>Guarantees critical weather hazard delivery.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200400"/>
            <a:ext cx="3429000" cy="1828800"/>
          </a:xfrm>
          <a:prstGeom prst="roundRect">
            <a:avLst/>
          </a:prstGeom>
          <a:solidFill>
            <a:srgbClr val="EEF4EC"/>
          </a:solidFill>
          <a:ln w="15240">
            <a:solidFill>
              <a:srgbClr val="B8D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3328416"/>
            <a:ext cx="3099816" cy="15727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C2B1B"/>
                </a:solidFill>
                <a:latin typeface="Montserrat"/>
              </a:defRPr>
            </a:pPr>
            <a:r>
              <a:t>📑 Timestamped Audit Trail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Administrative Records: </a:t>
            </a:r>
            <a:r>
              <a:rPr sz="1200">
                <a:solidFill>
                  <a:srgbClr val="1A2820"/>
                </a:solidFill>
                <a:latin typeface="Source Sans 3"/>
              </a:rPr>
              <a:t>Every dispatched alert is permanently logged to CSV with timestamps and taluka data.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C2B1B"/>
                </a:solidFill>
                <a:latin typeface="Source Sans 3"/>
              </a:rPr>
              <a:t>Government Export: </a:t>
            </a:r>
            <a:r>
              <a:rPr sz="1200">
                <a:solidFill>
                  <a:srgbClr val="1A2820"/>
                </a:solidFill>
                <a:latin typeface="Source Sans 3"/>
              </a:rPr>
              <a:t>Downloadable for departmental review and subsidy verification.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57800"/>
            <a:ext cx="10744200" cy="10515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349240"/>
            <a:ext cx="103784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/>
              <a:t>🌾  </a:t>
            </a:r>
            <a:r>
              <a:rPr b="1" sz="1250">
                <a:solidFill>
                  <a:srgbClr val="0C2B1B"/>
                </a:solidFill>
                <a:latin typeface="Source Sans 3"/>
              </a:rPr>
              <a:t>Key Takeaway: </a:t>
            </a:r>
            <a:r>
              <a:rPr sz="1250">
                <a:solidFill>
                  <a:srgbClr val="1A2820"/>
                </a:solidFill>
                <a:latin typeface="Source Sans 3"/>
              </a:rPr>
              <a:t>A warning is useful only if it reaches the farmer. By pairing 2G SMS with native Konkani advisories, AgriWatch Goa ensures that no smallholder farmer is left behind.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