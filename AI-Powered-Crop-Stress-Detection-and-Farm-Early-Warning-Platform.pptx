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64008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7706"/>
                </a:solidFill>
                <a:latin typeface="Montserrat"/>
              </a:defRPr>
            </a:pPr>
            <a:r>
              <a:t>🌿 SANKALP SETU HACKATHON 2026 • TRACK #4</a:t>
            </a:r>
          </a:p>
          <a:p>
            <a:pPr>
              <a:spcAft>
                <a:spcPts val="800"/>
              </a:spcAft>
              <a:defRPr sz="3600" b="1">
                <a:solidFill>
                  <a:srgbClr val="16A34A"/>
                </a:solidFill>
                <a:latin typeface="Montserrat"/>
              </a:defRPr>
            </a:pPr>
            <a:r>
              <a:t>AgriWatch Goa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AI-Powered Crop Stress Detection &amp;</a:t>
            </a:r>
            <a:br/>
            <a:r>
              <a:t>Farm Early-Warning Platform</a:t>
            </a:r>
          </a:p>
          <a:p>
            <a:pPr>
              <a:spcAft>
                <a:spcPts val="2400"/>
              </a:spcAft>
              <a:defRPr sz="1500">
                <a:solidFill>
                  <a:srgbClr val="CBD5E1"/>
                </a:solidFill>
                <a:latin typeface="Source Sans 3"/>
              </a:defRPr>
            </a:pPr>
            <a:r>
              <a:t>Predictive agro-meteorological intelligence for Goa's smallholder farmers across all 12 Talukas.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🏛️ Host &amp; Track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Venue: </a:t>
            </a:r>
            <a:r>
              <a:rPr sz="1200">
                <a:solidFill>
                  <a:srgbClr val="FFFFFF"/>
                </a:solidFill>
                <a:latin typeface="Source Sans 3"/>
              </a:rPr>
              <a:t>Rosary College, Navelim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Track: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Agriculture &amp; Rural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8795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👥 4-Member Team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Project: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AgriWatch Goa Prototype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Focus: </a:t>
            </a:r>
            <a:r>
              <a:rPr sz="1200">
                <a:solidFill>
                  <a:srgbClr val="FFFFFF"/>
                </a:solidFill>
                <a:latin typeface="Source Sans 3"/>
              </a:rPr>
              <a:t>Low-Tech Smallholder Inclusion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Goa's Farmers Need Warnings Before Crop Damage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Why traditional visual scouting fails smallholder Goan farmers during monsoons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9105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🌧️ Extreme Rainfall &amp; Weather Volatility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Monsoon Shifts: </a:t>
            </a:r>
            <a:r>
              <a:rPr sz="1200">
                <a:solidFill>
                  <a:srgbClr val="1A2820"/>
                </a:solidFill>
                <a:latin typeface="Source Sans 3"/>
              </a:rPr>
              <a:t>Sudden heavy rain spells saturate coastal and khazan soils, triggering rapid root asphyxiation and waterlogging.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2549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🌱 Soil Moisture &amp; Acidic Laterite Stress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Laterite Chemistry: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Goa's naturally acidic soils (pH 4.8–5.8) lock essential micronutrients when moisture fluctuates between extremes.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059935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🦠 Silent Disease &amp; Pest Proliferation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The 'Too-Late' Dilemma: </a:t>
            </a:r>
            <a:r>
              <a:rPr sz="1200">
                <a:solidFill>
                  <a:srgbClr val="1A2820"/>
                </a:solidFill>
                <a:latin typeface="Source Sans 3"/>
              </a:rPr>
              <a:t>Pathologies like Rice Blast and Cashew Dieback multiply invisibly days before physical foliar symptoms appear.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65836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6217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💡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Current agricultural support is largely reactive (compensating post-loss). Farmers need predictive, localized early warnings delivered in time to save crops.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From Reactive Agriculture to Predictive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Fusing meteorological telemetry, soil parameters, and AI inference into farmer advisories</a:t>
            </a:r>
          </a:p>
        </p:txBody>
      </p:sp>
      <p:pic>
        <p:nvPicPr>
          <p:cNvPr id="4" name="Picture 3" descr="slide3_pi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035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9219" y="3117738"/>
            <a:ext cx="954633" cy="59307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Predictive
Advisory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7942" y="1780153"/>
            <a:ext cx="1416039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Weather Data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Real-time forecasts &amp;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2572" y="1780153"/>
            <a:ext cx="1416039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Farmer Advisory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Actionable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827" y="3155594"/>
            <a:ext cx="1447860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Early Warning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Timely alerts on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7080" y="3042025"/>
            <a:ext cx="1447860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Soil &amp; Agro-Climatic</a:t>
            </a: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F0F8F2"/>
                </a:solidFill>
                <a:latin typeface="Source Sans 3"/>
              </a:rPr>
              <a:t>Soil moisture &amp; microclimate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572" y="4543653"/>
            <a:ext cx="1416039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Leaf Analysis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Visual foliar diagnostics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7942" y="4446910"/>
            <a:ext cx="1416039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Machine Learning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Pattern detection &amp;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📍 12 Goa Talukas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Hyper-localized GIS mapping from Tiswadi to Canacona.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🌾 Multi-Stress AI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Predictions: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Evaluates Drought, Waterlog, Pest, Disease &amp; Heat.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Visual Leaf AI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Diagnostics: </a:t>
            </a:r>
            <a:r>
              <a:rPr sz="1200">
                <a:solidFill>
                  <a:srgbClr val="1A2820"/>
                </a:solidFill>
                <a:latin typeface="Source Sans 3"/>
              </a:rPr>
              <a:t>Extracts colorimetry &amp; necrotic lesion biomarkers.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Transparency: </a:t>
            </a:r>
            <a:r>
              <a:rPr sz="1200">
                <a:solidFill>
                  <a:srgbClr val="1A2820"/>
                </a:solidFill>
                <a:latin typeface="Source Sans 3"/>
              </a:rPr>
              <a:t>Decomposes Gini feature drivers for every alert.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Engine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Vernacular: </a:t>
            </a:r>
            <a:r>
              <a:rPr sz="1200">
                <a:solidFill>
                  <a:srgbClr val="1A2820"/>
                </a:solidFill>
                <a:latin typeface="Source Sans 3"/>
              </a:rPr>
              <a:t>Native Konkani (देवनागरी), Hindi, and English.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Inclusion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Delivery: </a:t>
            </a:r>
            <a:r>
              <a:rPr sz="1200">
                <a:solidFill>
                  <a:srgbClr val="1A2820"/>
                </a:solidFill>
                <a:latin typeface="Source Sans 3"/>
              </a:rPr>
              <a:t>Accessible on basic feature phones and WhatsApp.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1092708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715000"/>
            <a:ext cx="1056131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Integrated Pipeline: Telemetry Ingestion ➔ Machine Learning Inference ➔ XAI Verification ➔ Actionable Farmer Advisory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End-to-End System 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modular, low-overhead pipeline from satellite telemetry ingestion to village-level delivery</a:t>
            </a:r>
          </a:p>
        </p:txBody>
      </p:sp>
      <p:pic>
        <p:nvPicPr>
          <p:cNvPr id="4" name="Picture 3" descr="slide4_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71600"/>
            <a:ext cx="1005840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🧠 Core AI &amp; Analytics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Python 3.14 &amp; Scikit-learn: </a:t>
            </a:r>
            <a:r>
              <a:rPr sz="1200">
                <a:solidFill>
                  <a:srgbClr val="1A2820"/>
                </a:solidFill>
                <a:latin typeface="Source Sans 3"/>
              </a:rPr>
              <a:t>Ensemble algorithms &amp; data pipes.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Random Forest 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Primary stress classifier + 6 sub-models.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StandardScaler &amp; One-Hot: </a:t>
            </a:r>
            <a:r>
              <a:rPr sz="1200">
                <a:solidFill>
                  <a:srgbClr val="1A2820"/>
                </a:solidFill>
                <a:latin typeface="Source Sans 3"/>
              </a:rPr>
              <a:t>Normalized environmental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🖥️ Interactive Dashboard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Streamlit Web Framework: </a:t>
            </a:r>
            <a:r>
              <a:rPr sz="1200">
                <a:solidFill>
                  <a:srgbClr val="1A2820"/>
                </a:solidFill>
                <a:latin typeface="Source Sans 3"/>
              </a:rPr>
              <a:t>Fast, reactive glassmorphic UI.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Folium GIS Mapping: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Geospatial color-coded taluka markers.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Plotly Interactive Charts: </a:t>
            </a:r>
            <a:r>
              <a:rPr sz="1200">
                <a:solidFill>
                  <a:srgbClr val="1A2820"/>
                </a:solidFill>
                <a:latin typeface="Source Sans 3"/>
              </a:rPr>
              <a:t>Radar risk plots &amp; XAI bar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📡 Ingestion &amp; Multi-Channel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OpenWeatherMap Live API: </a:t>
            </a:r>
            <a:r>
              <a:rPr sz="1200">
                <a:solidFill>
                  <a:srgbClr val="1A2820"/>
                </a:solidFill>
                <a:latin typeface="Source Sans 3"/>
              </a:rPr>
              <a:t>Deterministic Goan simulation modes.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NumPy &amp; PIL Colorimetry: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Foliar lesion segmentation.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Twilio SMS &amp; WhatsApp: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2G farmer advisory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Real-Time Monitoring Across All 12 Goa Talukas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State-wide agro-climatic surveillance dashboard for Directorate of Agriculture &amp; ZAO officers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🗺️ 12 Talukas Monitored Live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Complete Goa 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Covers all North and South Goa talukas from Pernem to Canacona with pre-configured agro-climatic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Interactive GIS Map &amp; Satellites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Dual-Layer Mapping: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Folium geospatial views with standard terrain maps and satellite crop canopy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🟢 Risk-Based Dynamic Color Coding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Intuitive Status Tiers: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Green (Normal), CadetBlue (Watch), Orange (Alert), and Red (Critical Intervention Required).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🌦️ Real-Time Environmental Telemetry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14 Parameters Evaluated: </a:t>
            </a:r>
            <a:r>
              <a:rPr sz="1200">
                <a:solidFill>
                  <a:srgbClr val="1A2820"/>
                </a:solidFill>
                <a:latin typeface="Source Sans 3"/>
              </a:rPr>
              <a:t>Temperature, relative humidity, 24h rainfall, dry/wet streaks, soil moisture, and soil pH.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📋 Taluka Vulnerability Watchlist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One-Click Drilldown: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Instant summary cards displaying primary crops, ambient temp, soil pH, and immediate ICAR action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🗣️ Trilingual Interface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Zero Language Barriers: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Instant toggle between English, Konkani (गोंयची राजभास in Devanagari), and Hindi.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📊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Agriculture directors and ZAO officers can survey the entire state's agricultural risk at a glance and dispatch targeted alerts from a single centralized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Digital Kisan Crop Health &amp; Vulnerability Card (Prototype)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prototype printable agro-meteorological advisory card bridging digital intelligence to the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📄 What the Digital Kisan Card Delivers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👤 Farmer &amp; Land Profile: </a:t>
            </a:r>
            <a:r>
              <a:rPr sz="1200">
                <a:solidFill>
                  <a:srgbClr val="1A2820"/>
                </a:solidFill>
                <a:latin typeface="Source Sans 3"/>
              </a:rPr>
              <a:t>Records farmer name, taluka, survey/parcel number, and Goan land types (Khazan, Morod, Keri).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🌦️ Meteorological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Timestamped 24h rainfall, ambient temp, relative humidity, and consecutive wet/dry days.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🌱 Soil Health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Goa laterite soil pH level (acidic loam) and root zone soil moisture percentage.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🤖 AI Agro-Stress Grading: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Composite stress rating (Grade A to D) with active hazard classification.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🌿 ICAR-CCARI Prescriptions: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Scientifically verified remediation protocol rendered in English and native Konkani.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🔲 Verification ID &amp; QR Concept: </a:t>
            </a:r>
            <a:r>
              <a:rPr sz="1200">
                <a:solidFill>
                  <a:srgbClr val="1A2820"/>
                </a:solidFill>
                <a:latin typeface="Source Sans 3"/>
              </a:rPr>
              <a:t>Unique tracking serial (e.g. GOA-KISAN-2026-PON-4819) with tamper-resistant verification hash.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474720"/>
          </a:xfrm>
          <a:prstGeom prst="roundRect">
            <a:avLst/>
          </a:prstGeom>
          <a:solidFill>
            <a:srgbClr val="FEFDFA"/>
          </a:solidFill>
          <a:ln w="15240">
            <a:solidFill>
              <a:srgbClr val="14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218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🏛️ Prototype Certificate Layout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Govt Header: </a:t>
            </a:r>
            <a:r>
              <a:rPr sz="1200">
                <a:solidFill>
                  <a:srgbClr val="1A2820"/>
                </a:solidFill>
                <a:latin typeface="Source Sans 3"/>
              </a:rPr>
              <a:t>Government of Goa • Directorate of Agriculture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Advisory Authority: </a:t>
            </a:r>
            <a:r>
              <a:rPr sz="1200">
                <a:solidFill>
                  <a:srgbClr val="1A2820"/>
                </a:solidFill>
                <a:latin typeface="Source Sans 3"/>
              </a:rPr>
              <a:t>In Technical Guidance with ICAR-CCARI, Old Goa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Sample Record: </a:t>
            </a:r>
            <a:r>
              <a:rPr sz="1200">
                <a:solidFill>
                  <a:srgbClr val="1A2820"/>
                </a:solidFill>
                <a:latin typeface="Source Sans 3"/>
              </a:rPr>
              <a:t>Ramesh Naik | Ponda (South Goa) | Parcel: S-412/3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Current Assessment: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Rice (Paddy) — Tillering Stage | Laterite Soil pH: 5.2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AI Classification: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🟡 GRADE B (WATCH) • Stress Index: 38.4%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Prescribed Advisory: </a:t>
            </a:r>
            <a:r>
              <a:rPr sz="1200">
                <a:solidFill>
                  <a:srgbClr val="1A2820"/>
                </a:solidFill>
                <a:latin typeface="Source Sans 3"/>
              </a:rPr>
              <a:t>Adopt Alternate Wetting &amp; Drying (AWD) water-saving.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Verification QR: </a:t>
            </a:r>
            <a:r>
              <a:rPr sz="1200">
                <a:solidFill>
                  <a:srgbClr val="1A2820"/>
                </a:solidFill>
                <a:latin typeface="Source Sans 3"/>
              </a:rPr>
              <a:t>[ 🔲 QR VERIFICATION ] • HASH: 48192026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66360"/>
            <a:ext cx="521208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25780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🏛️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Prototype concept designed for future government integration: can be printed at 190+ Village Panchayat e-Gram kiosks to support PMFBY crop insurance claims and ZAO subsidy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The AI Engine: Multi-Target Random Forest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Evaluating multi-dimensional environmental signals across Goan agriculture</a:t>
            </a:r>
          </a:p>
        </p:txBody>
      </p:sp>
      <p:pic>
        <p:nvPicPr>
          <p:cNvPr id="4" name="Picture 3" descr="slide7_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486400" cy="3712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8998" y="2902305"/>
            <a:ext cx="1004011" cy="623693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Random Forest
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435" y="1792278"/>
            <a:ext cx="1486814" cy="55315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Hazard Predictions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7 risks + composite 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2272" y="1792278"/>
            <a:ext cx="1486814" cy="55315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Weather Features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Temperature, rain, humidity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435" y="4101431"/>
            <a:ext cx="1486814" cy="55315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Crop Features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Growth stage, variety,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6785" y="4168255"/>
            <a:ext cx="1486814" cy="55315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Soil Features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Moisture, pH, texture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548640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59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🧠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1 Primary Classifier + 6 Binary Hazard Sub-Models evaluate non-linear multi-stress interactions across Goa in under 0.05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4983480" cy="2423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154533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🧠 Machine Learning Architecture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Multi-Target Design: </a:t>
            </a:r>
            <a:r>
              <a:rPr sz="1200">
                <a:solidFill>
                  <a:srgbClr val="1A2820"/>
                </a:solidFill>
                <a:latin typeface="Source Sans 3"/>
              </a:rPr>
              <a:t>1 Primary Classifier (Overall Stress) + 6 specialized Binary Hazard Sub-Models (Drought, Waterlog, Pest, Disease, Heat, Soil pH).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Non-Linear Synthesis: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Evaluates complex interactions (e.g. 50mm rain in low-lying Salcete causing blast vs. 80mm in sloped Sattari).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Engineered for Speed: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Configured with n_jobs=1 for ultra-fast, in-process single-record inference under 0.05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023360"/>
            <a:ext cx="4983480" cy="242316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415137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📊 Evaluation Benchmark Metrics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Primary Stress Classifier: </a:t>
            </a:r>
            <a:r>
              <a:rPr sz="1200">
                <a:solidFill>
                  <a:srgbClr val="1A2820"/>
                </a:solidFill>
                <a:latin typeface="Source Sans 3"/>
              </a:rPr>
              <a:t>91.86% Accuracy | 96.38% Precision | 94.14% ROC-AUC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Hazard Sub-Models: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Drought: 97.5% | Waterlog: 99.5% | Pest Bloom: 97.9% | Fungal Disease: 98.9%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Evaluation Dataset Note: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Trained on synthetic Goa agro-climatic data (3,500 samples); real-world field validation with ICAR/ZAO is our proposed next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Don't Just Predict Risk — Explain It (What-If &amp; 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Opening the black box: Decomposing exact meteorological drivers of crop stress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🧪 What-If Diagnostic Simulation Sandbox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Interactive Stress Injection: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Allows agricultural officers to simulate weather disruptions and observe AI model responses in real time.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Dedicated Confirm Controls: </a:t>
            </a:r>
            <a:r>
              <a:rPr sz="1200">
                <a:solidFill>
                  <a:srgbClr val="1A2820"/>
                </a:solidFill>
                <a:latin typeface="Source Sans 3"/>
              </a:rPr>
              <a:t>Features explicit confirmation triggers so users tweak sliders smoothly without mid-input reload lag.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Simulated Weather Factors: </a:t>
            </a:r>
            <a:r>
              <a:rPr sz="1200">
                <a:solidFill>
                  <a:srgbClr val="1A2820"/>
                </a:solidFill>
                <a:latin typeface="Source Sans 3"/>
              </a:rPr>
              <a:t>24h Rainfall (0–350mm) • Air Temperature (18–44°C) • Relative Humidity (25–100%)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Simulated Soil &amp; Biological: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Consecutive Dry/Wet Days • Soil Moisture (10–100%) • Soil pH (4.0–8.0) • Pest/Disease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 (XAI) &amp; Actionable Guidance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Feature Importance Attribution: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Decomposes Gini decision weights so the model explicitly justifies why an alert was triggered.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No Black Box Guarantee: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can see which telemetry signals were most influential (e.g. Consecutive Dry Days: 0.216, Soil Moisture: 0.184).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6-Axis Spider / Radar Decomposition: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Plots multi-hazard stress probabilities across Drought, Waterlog, Pest, Disease, Heat, and Soil Acidity simultaneously.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ICAR-CCARI Prescriptions: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Automatically maps predicted hazards to scientific remediation protocols in English and Konkani.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59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🔍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Explainable AI builds trust with agricultural officers and farmers by proving which environmental telemetry signals drove the model's prediction before any advisory is dispatched.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Multi-Modal Leaf Disease Scanner &amp; Telemetry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Combining computer-vision lesion detection with live Goan microclimatic telemetry</a:t>
            </a:r>
          </a:p>
        </p:txBody>
      </p:sp>
      <p:pic>
        <p:nvPicPr>
          <p:cNvPr id="4" name="Picture 3" descr="slide9_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3776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32864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2864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1. Leaf Image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Field sample upload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2. Computer Vision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HSV color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75173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5173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3. Color &amp; Lesions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Necrosis area masking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6211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6211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4. Environmental Data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Microclimate fusion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7307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7307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5. Risk Assessment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Composite AI diagnosis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📸 Computer-Vision Leaf Analysis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Specimen Ingestion: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mobile upload with colorimetric RGB-to-HSV conversion.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Lesion Segmentation: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Calculates foliar necrotic ratio &amp; brown-spot clustering using NumPy &amp; PIL.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Goan Pathologies: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Calibrated for Rice Blast (भाताचेर करपा), Cashew Shoot Blight &amp; Coconut Bud Rot.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Environmental Context Fusion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Beyond Pure Vision: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Visual symptoms alone cannot distinguish harmless mud from fungal infection.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Microclimatic Heuristic: </a:t>
            </a:r>
            <a:r>
              <a:rPr sz="1200">
                <a:solidFill>
                  <a:srgbClr val="1A2820"/>
                </a:solidFill>
                <a:latin typeface="Source Sans 3"/>
              </a:rPr>
              <a:t>Cross-checks active spore proliferation (Humidity &gt;85% + Temp 24–32°C).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Composite Action Plan: </a:t>
            </a:r>
            <a:r>
              <a:rPr sz="1200">
                <a:solidFill>
                  <a:srgbClr val="1A2820"/>
                </a:solidFill>
                <a:latin typeface="Source Sans 3"/>
              </a:rPr>
              <a:t>Combines visual indicators with taluka climate to produce trusted ICAR-CCARI treatment advice.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Bringing the Warning Directly to the Farmer (Digital Inclusivity)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Reaching smallholder farmers across Goa regardless of smartphone ownership or connectivity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Dispatch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Feature-Phone Ready: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Concise alerts under 160 characters in native Konkani delivered to basic handsets.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💬 WhatsApp Broadcast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Village Groups: </a:t>
            </a:r>
            <a:r>
              <a:rPr sz="1200">
                <a:solidFill>
                  <a:srgbClr val="1A2820"/>
                </a:solidFill>
                <a:latin typeface="Source Sans 3"/>
              </a:rPr>
              <a:t>One-click pre-formatted text links for Village Panchayat farmer WhatsApp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🖥️ Command Center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Officer Dashboard: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Interactive Streamlit web platform with GIS maps, What-If simulation, and analytics.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🧾 Printable Kisan Card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Physical Bridge: </a:t>
            </a:r>
            <a:r>
              <a:rPr sz="1200">
                <a:solidFill>
                  <a:srgbClr val="1A2820"/>
                </a:solidFill>
                <a:latin typeface="Source Sans 3"/>
              </a:rPr>
              <a:t>Printable advisory certificates for walk-in farmers at Panchayat e-Gram kiosks.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Empowerment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Native Konkani (गोंयची राजभास): </a:t>
            </a:r>
            <a:r>
              <a:rPr sz="1200">
                <a:solidFill>
                  <a:srgbClr val="1A2820"/>
                </a:solidFill>
                <a:latin typeface="Source Sans 3"/>
              </a:rPr>
              <a:t>Devanagari script removes all literacy and language barriers.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Hindi &amp; English: </a:t>
            </a:r>
            <a:r>
              <a:rPr sz="1200">
                <a:solidFill>
                  <a:srgbClr val="1A2820"/>
                </a:solidFill>
                <a:latin typeface="Source Sans 3"/>
              </a:rPr>
              <a:t>Full state and national administrative accessibility.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🛡️ Anti-Spam Governance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15-Minute Cooldown: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Intelligent rate limiter prevents bombarding farmers if sensors fluctuate.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High-Priority Queue: </a:t>
            </a:r>
            <a:r>
              <a:rPr sz="1200">
                <a:solidFill>
                  <a:srgbClr val="1A2820"/>
                </a:solidFill>
                <a:latin typeface="Source Sans 3"/>
              </a:rPr>
              <a:t>Guarantees critical weather hazard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📑 Timestamped Audit Trail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Administrative Records: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Every dispatched alert is permanently logged to CSV with timestamps and taluka data.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Government Export: </a:t>
            </a:r>
            <a:r>
              <a:rPr sz="1200">
                <a:solidFill>
                  <a:srgbClr val="1A2820"/>
                </a:solidFill>
                <a:latin typeface="Source Sans 3"/>
              </a:rPr>
              <a:t>Downloadable for departmental review and subsidy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1074420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784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A warning is useful only if it reaches the farmer. By pairing 2G SMS with native Konkani advisories, AgriWatch Goa ensures that no smallholder farmer is left behind.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