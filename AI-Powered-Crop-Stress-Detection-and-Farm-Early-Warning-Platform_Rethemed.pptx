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:/Users/lyamf/Downloads/93a6948e96fe51c41b0f10a4bee58903.jpg93a6948e96fe51c41b0f10a4bee58903"/>
          <p:cNvPicPr>
            <a:picLocks noChangeAspect="1"/>
          </p:cNvPicPr>
          <p:nvPr/>
        </p:nvPicPr>
        <p:blipFill>
          <a:blip r:embed="rId1"/>
          <a:srcRect t="9395" b="9395"/>
          <a:stretch>
            <a:fillRect/>
          </a:stretch>
        </p:blipFill>
        <p:spPr>
          <a:xfrm>
            <a:off x="7434072" y="0"/>
            <a:ext cx="47548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64008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7706"/>
                </a:solidFill>
                <a:latin typeface="Montserrat"/>
              </a:defRPr>
            </a:pPr>
            <a:r>
              <a:t>🌿 SANKALP SETU HACKATHON 2026 • TRACK #4</a:t>
            </a:r>
          </a:p>
          <a:p>
            <a:pPr>
              <a:spcAft>
                <a:spcPts val="800"/>
              </a:spcAft>
              <a:defRPr sz="3600" b="1">
                <a:solidFill>
                  <a:srgbClr val="16A34A"/>
                </a:solidFill>
                <a:latin typeface="Montserrat"/>
              </a:defRPr>
            </a:pPr>
            <a:r>
              <a:t>AgriWatch Goa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AI-Powered Crop Stress Detection &amp;</a:t>
            </a:r>
            <a:br/>
            <a:r>
              <a:t>Farm Early-Warning Platform</a:t>
            </a:r>
          </a:p>
          <a:p>
            <a:pPr>
              <a:spcAft>
                <a:spcPts val="2400"/>
              </a:spcAft>
              <a:defRPr sz="1500">
                <a:solidFill>
                  <a:srgbClr val="CBD5E1"/>
                </a:solidFill>
                <a:latin typeface="Source Sans 3"/>
              </a:defRPr>
            </a:pPr>
            <a:r>
              <a:t>Predictive agro-meteorological early warnings for smallholder Goan farmers across all 12 Talukas.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754880"/>
            <a:ext cx="3108960" cy="1280160"/>
          </a:xfrm>
          <a:prstGeom prst="roundRect">
            <a:avLst/>
          </a:prstGeom>
          <a:solidFill>
            <a:srgbClr val="10342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4882896"/>
            <a:ext cx="277977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Montserrat"/>
              </a:defRPr>
            </a:pPr>
            <a:r>
              <a:t>🏛️ Host &amp; Track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ource Sans 3"/>
              </a:rPr>
              <a:t>Venue: </a:t>
            </a:r>
            <a:r>
              <a:rPr sz="1200">
                <a:solidFill>
                  <a:srgbClr val="FFFFFF"/>
                </a:solidFill>
                <a:latin typeface="Source Sans 3"/>
              </a:rPr>
              <a:t>Rosary College, Navelim</a:t>
            </a:r>
            <a:endParaRPr sz="1200">
              <a:solidFill>
                <a:srgbClr val="FFFFFF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ource Sans 3"/>
              </a:rPr>
              <a:t>Track: </a:t>
            </a:r>
            <a:r>
              <a:rPr sz="1200">
                <a:solidFill>
                  <a:srgbClr val="FFFFFF"/>
                </a:solidFill>
                <a:latin typeface="Source Sans 3"/>
              </a:rPr>
              <a:t>Agriculture &amp; Rural Innovation</a:t>
            </a:r>
            <a:endParaRPr sz="1200">
              <a:solidFill>
                <a:srgbClr val="FFFFFF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23360" y="4754880"/>
            <a:ext cx="3108960" cy="1280160"/>
          </a:xfrm>
          <a:prstGeom prst="roundRect">
            <a:avLst/>
          </a:prstGeom>
          <a:solidFill>
            <a:srgbClr val="10342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87952" y="4882896"/>
            <a:ext cx="277977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Montserrat"/>
              </a:defRPr>
            </a:pPr>
            <a:r>
              <a:t>👥 4-Member Team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ource Sans 3"/>
              </a:rPr>
              <a:t>Project: </a:t>
            </a:r>
            <a:r>
              <a:rPr sz="1200">
                <a:solidFill>
                  <a:srgbClr val="FFFFFF"/>
                </a:solidFill>
                <a:latin typeface="Source Sans 3"/>
              </a:rPr>
              <a:t>AgriWatch Goa Prototype</a:t>
            </a:r>
            <a:endParaRPr sz="1200">
              <a:solidFill>
                <a:srgbClr val="FFFFFF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ource Sans 3"/>
              </a:rPr>
              <a:t>Focus: </a:t>
            </a:r>
            <a:r>
              <a:rPr sz="1200">
                <a:solidFill>
                  <a:srgbClr val="FFFFFF"/>
                </a:solidFill>
                <a:latin typeface="Source Sans 3"/>
              </a:rPr>
              <a:t>Low-Tech Smallholder Inclusion</a:t>
            </a:r>
            <a:endParaRPr sz="1200">
              <a:solidFill>
                <a:srgbClr val="FFFFFF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Goa's Farmers Need Warnings Before Crop Damage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Why traditional visual scouting fails Goan farmers during extreme monsoon shifts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91056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🌧️ Extreme Rainfall &amp; Weather Volatility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Monsoon Shifts: </a:t>
            </a:r>
            <a:r>
              <a:rPr sz="1200">
                <a:solidFill>
                  <a:srgbClr val="1A2820"/>
                </a:solidFill>
                <a:latin typeface="Source Sans 3"/>
              </a:rPr>
              <a:t>Sudden downpours rapidly flood low-lying khazan lands, suffocating root systems.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25496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🌱 Soil Moisture &amp; Acidic Laterite Stress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Acidic Soils: </a:t>
            </a:r>
            <a:r>
              <a:rPr sz="1200">
                <a:solidFill>
                  <a:srgbClr val="1A2820"/>
                </a:solidFill>
                <a:latin typeface="Source Sans 3"/>
              </a:rPr>
              <a:t>Goa's laterite soil (pH 4.8–5.8) locks key nutrients during extreme wet/dry fluctuations.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059935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🦠 Silent Disease &amp; Pest Proliferation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Silent Pathogens: </a:t>
            </a:r>
            <a:r>
              <a:rPr sz="1200">
                <a:solidFill>
                  <a:srgbClr val="1A2820"/>
                </a:solidFill>
                <a:latin typeface="Source Sans 3"/>
              </a:rPr>
              <a:t>Rice Blast &amp; Cashew Dieback multiply days before visible foliar symptoms appear.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65836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6217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💡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Post-loss relief is too late. Farmers need hyper-local early warnings to protect standing crops.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From Reactive Agriculture to Predictive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Fusing weather telemetry, soil health, and ML models into actionable farmer alerts</a:t>
            </a:r>
          </a:p>
        </p:txBody>
      </p:sp>
      <p:pic>
        <p:nvPicPr>
          <p:cNvPr id="4" name="Picture 3" descr="slide3_pic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530352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09219" y="3117738"/>
            <a:ext cx="954633" cy="59307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Predictive
Advisory Flow</a:t>
            </a:r>
            <a:endParaRPr sz="10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47942" y="1780153"/>
            <a:ext cx="1416039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Weather Data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Real-time forecasts &amp; trends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82572" y="1780153"/>
            <a:ext cx="1416039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Farmer Advisory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Actionable recommendations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2827" y="3155594"/>
            <a:ext cx="1447860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Early Warning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Timely alerts on threats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57080" y="3042025"/>
            <a:ext cx="1447860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Soil &amp; Agro-Climatic</a:t>
            </a:r>
            <a:endParaRPr sz="9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750">
                <a:solidFill>
                  <a:srgbClr val="F0F8F2"/>
                </a:solidFill>
                <a:latin typeface="Source Sans 3"/>
              </a:rPr>
              <a:t>Soil moisture &amp; microclimate</a:t>
            </a:r>
            <a:endParaRPr sz="7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2572" y="4543653"/>
            <a:ext cx="1416039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Leaf Analysis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Visual foliar diagnostics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7942" y="4446910"/>
            <a:ext cx="1416039" cy="5257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Machine Learning</a:t>
            </a:r>
            <a:endParaRPr sz="95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Pattern detection &amp; risk</a:t>
            </a:r>
            <a:endParaRPr sz="80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53895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📍 12 Goa Talukas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Coverage: </a:t>
            </a:r>
            <a:r>
              <a:rPr sz="1200">
                <a:solidFill>
                  <a:srgbClr val="1A2820"/>
                </a:solidFill>
                <a:latin typeface="Source Sans 3"/>
              </a:rPr>
              <a:t>Hyper-local GIS surveillance across all 12 Goan talukas.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61120" y="132588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1453895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🌾 Multi-Stress AI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Predictions: </a:t>
            </a:r>
            <a:r>
              <a:rPr sz="1200">
                <a:solidFill>
                  <a:srgbClr val="1A2820"/>
                </a:solidFill>
                <a:latin typeface="Source Sans 3"/>
              </a:rPr>
              <a:t>Simultaneously predicts drought, flooding, pests, disease &amp; heat stress.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7121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🔬 Visual Leaf AI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Diagnostics: </a:t>
            </a:r>
            <a:r>
              <a:rPr sz="1200">
                <a:solidFill>
                  <a:srgbClr val="1A2820"/>
                </a:solidFill>
                <a:latin typeface="Source Sans 3"/>
              </a:rPr>
              <a:t>Extracts foliar HSV colorimetry and necrotic lesion ratios.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61120" y="274320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287121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Explainable AI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Transparency: </a:t>
            </a:r>
            <a:r>
              <a:rPr sz="1200">
                <a:solidFill>
                  <a:srgbClr val="1A2820"/>
                </a:solidFill>
                <a:latin typeface="Source Sans 3"/>
              </a:rPr>
              <a:t>Exposes exact Gini feature drivers and radar profiles for every alert.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416052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28853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Trilingual Engine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Vernacular: </a:t>
            </a:r>
            <a:r>
              <a:rPr sz="1200">
                <a:solidFill>
                  <a:srgbClr val="1A2820"/>
                </a:solidFill>
                <a:latin typeface="Source Sans 3"/>
              </a:rPr>
              <a:t>Available in Konkani (देवनागरी), Hindi, and English.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961120" y="416052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428853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2G SMS Inclusion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Delivery: </a:t>
            </a:r>
            <a:r>
              <a:rPr sz="1200">
                <a:solidFill>
                  <a:srgbClr val="1A2820"/>
                </a:solidFill>
                <a:latin typeface="Source Sans 3"/>
              </a:rPr>
              <a:t>Reaches basic phones via 2G SMS and village WhatsApp groups.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5623560"/>
            <a:ext cx="1092708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715000"/>
            <a:ext cx="10561319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Integrated Flow: Telemetry Ingestion ➔ ML Inference ➔ XAI Validation ➔ Farmer Advisory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End-to-End System Architecture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A lightweight pipeline connecting satellite data to village-level farmer delivery</a:t>
            </a:r>
          </a:p>
        </p:txBody>
      </p:sp>
      <p:pic>
        <p:nvPicPr>
          <p:cNvPr id="4" name="Picture 3" descr="slide4_pic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71600"/>
            <a:ext cx="1005840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🧠 Core AI &amp; Analytics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Core Engine: </a:t>
            </a:r>
            <a:r>
              <a:rPr sz="1200">
                <a:solidFill>
                  <a:srgbClr val="1A2820"/>
                </a:solidFill>
                <a:latin typeface="Source Sans 3"/>
              </a:rPr>
              <a:t>Python 3.14 &amp; Scikit-learn Random Forest ensemble pipeline.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Models: </a:t>
            </a:r>
            <a:r>
              <a:rPr sz="1200">
                <a:solidFill>
                  <a:srgbClr val="1A2820"/>
                </a:solidFill>
                <a:latin typeface="Source Sans 3"/>
              </a:rPr>
              <a:t>1 composite stress classifier + 6 specialized hazard sub-models.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Preprocessing: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StandardScaler &amp; One-Hot pipelines for rapid telemetry normalization.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🖥️ Interactive Dashboard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Dashboard UI: </a:t>
            </a:r>
            <a:r>
              <a:rPr sz="1200">
                <a:solidFill>
                  <a:srgbClr val="1A2820"/>
                </a:solidFill>
                <a:latin typeface="Source Sans 3"/>
              </a:rPr>
              <a:t>Reactive Streamlit web console with real-time controls.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GIS Mapping: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Folium taluka risk markers with satellite canopy overlays.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Analytics: </a:t>
            </a:r>
            <a:r>
              <a:rPr sz="1200">
                <a:solidFill>
                  <a:srgbClr val="1A2820"/>
                </a:solidFill>
                <a:latin typeface="Source Sans 3"/>
              </a:rPr>
              <a:t>Plotly 6-axis risk radars and XAI feature-importance charts.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467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📡 Ingestion &amp; Multi-Channel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Live Telemetry: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OpenWeatherMap API with custom Goan microclimate simulation.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Vision Module: </a:t>
            </a:r>
            <a:r>
              <a:rPr sz="1200">
                <a:solidFill>
                  <a:srgbClr val="1A2820"/>
                </a:solidFill>
                <a:latin typeface="Source Sans 3"/>
              </a:rPr>
              <a:t>NumPy &amp; PIL colorimetric segmentation for necrotic leaf spots.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Farmer Dispatch: </a:t>
            </a:r>
            <a:r>
              <a:rPr sz="1200">
                <a:solidFill>
                  <a:srgbClr val="1A2820"/>
                </a:solidFill>
                <a:latin typeface="Source Sans 3"/>
              </a:rPr>
              <a:t>Twilio SMS gateway + WhatsApp community broadcast links.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Real-Time Monitoring Across All 12 Goa Talukas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State-wide agro-climatic surveillance for Directorate of Agriculture &amp; ZAO officers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🗺️ 12 Talukas Monitored Live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Complete Coverage: </a:t>
            </a:r>
            <a:r>
              <a:rPr sz="1200">
                <a:solidFill>
                  <a:srgbClr val="1A2820"/>
                </a:solidFill>
                <a:latin typeface="Source Sans 3"/>
              </a:rPr>
              <a:t>Surveillance across all 12 North &amp; South Goa talukas.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Interactive GIS Map &amp; Satellites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Dual-Layer GIS: </a:t>
            </a:r>
            <a:r>
              <a:rPr sz="1200">
                <a:solidFill>
                  <a:srgbClr val="1A2820"/>
                </a:solidFill>
                <a:latin typeface="Source Sans 3"/>
              </a:rPr>
              <a:t>Folium map toggles between base terrain and satellite canopy.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2549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🟢 Risk-Based Dynamic Color Coding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Risk Tiers: </a:t>
            </a:r>
            <a:r>
              <a:rPr sz="1200">
                <a:solidFill>
                  <a:srgbClr val="1A2820"/>
                </a:solidFill>
                <a:latin typeface="Source Sans 3"/>
              </a:rPr>
              <a:t>Green (Normal), Blue (Watch), Orange (Alert), Red (Critical).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269748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82549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🌦️ Real-Time Environmental Telemetry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14 Parameters: </a:t>
            </a:r>
            <a:r>
              <a:rPr sz="1200">
                <a:solidFill>
                  <a:srgbClr val="1A2820"/>
                </a:solidFill>
                <a:latin typeface="Source Sans 3"/>
              </a:rPr>
              <a:t>Tracks temp, humidity, 24h rain, wet/dry streaks, soil moisture, and pH.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059935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📋 Taluka Vulnerability Watchlist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Quick Drilldown: </a:t>
            </a:r>
            <a:r>
              <a:rPr sz="1200">
                <a:solidFill>
                  <a:srgbClr val="1A2820"/>
                </a:solidFill>
                <a:latin typeface="Source Sans 3"/>
              </a:rPr>
              <a:t>Summary cards display taluka crop types, metrics, and ICAR advisories.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059935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🗣️ Trilingual Interface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Trilingual Toggle: </a:t>
            </a:r>
            <a:r>
              <a:rPr sz="1200">
                <a:solidFill>
                  <a:srgbClr val="1A2820"/>
                </a:solidFill>
                <a:latin typeface="Source Sans 3"/>
              </a:rPr>
              <a:t>Instant 1-click switch between English, Konkani (गोंयची राजभास), and Hindi.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06984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33271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📊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Statewide farm risk is visible at a glance, enabling instant targeted advisories from one central console.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Digital Kisan Crop Health &amp; Vulnerability Card (Prototype)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A printable agro-meteorological advisory card bridging digital intelligence to the 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📄 What the Digital Kisan Card Delivers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👤 Farmer &amp; Land: </a:t>
            </a:r>
            <a:r>
              <a:rPr sz="1200">
                <a:solidFill>
                  <a:srgbClr val="1A2820"/>
                </a:solidFill>
                <a:latin typeface="Source Sans 3"/>
              </a:rPr>
              <a:t>Farmer name, taluka, parcel number, and soil type (Khazan, Morod, Keri).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🌦️ Weather Signals: </a:t>
            </a:r>
            <a:r>
              <a:rPr sz="1200">
                <a:solidFill>
                  <a:srgbClr val="1A2820"/>
                </a:solidFill>
                <a:latin typeface="Source Sans 3"/>
              </a:rPr>
              <a:t>24h rainfall, ambient temp, relative humidity, and wet/dry streaks.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🌱 Soil Telemetry: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Root-zone soil moisture % and laterite soil pH level.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🤖 AI Stress Grading: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Composite stress index (Grade A to D) with active hazard tags.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🌿 ICAR Protocols: </a:t>
            </a:r>
            <a:r>
              <a:rPr sz="1200">
                <a:solidFill>
                  <a:srgbClr val="1A2820"/>
                </a:solidFill>
                <a:latin typeface="Source Sans 3"/>
              </a:rPr>
              <a:t>Remediation guidance presented in native Konkani and English.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🔲 Verification QR: </a:t>
            </a:r>
            <a:r>
              <a:rPr sz="1200">
                <a:solidFill>
                  <a:srgbClr val="1A2820"/>
                </a:solidFill>
                <a:latin typeface="Source Sans 3"/>
              </a:rPr>
              <a:t>Unique tracking serial ID with tamper-proof cryptographic hash.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474720"/>
          </a:xfrm>
          <a:prstGeom prst="roundRect">
            <a:avLst/>
          </a:prstGeom>
          <a:solidFill>
            <a:srgbClr val="FEFDFA"/>
          </a:solidFill>
          <a:ln w="15240">
            <a:solidFill>
              <a:srgbClr val="14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3218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🏛️ Prototype Certificate Layout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Authority: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Directorate of Agriculture &amp; ICAR-CCARI Old Goa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Sample Record: </a:t>
            </a:r>
            <a:r>
              <a:rPr sz="1200">
                <a:solidFill>
                  <a:srgbClr val="1A2820"/>
                </a:solidFill>
                <a:latin typeface="Source Sans 3"/>
              </a:rPr>
              <a:t>Ramesh Naik | Ponda (South Goa) | Parcel S-412/3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Assessment: </a:t>
            </a:r>
            <a:r>
              <a:rPr sz="1200">
                <a:solidFill>
                  <a:srgbClr val="1A2820"/>
                </a:solidFill>
                <a:latin typeface="Source Sans 3"/>
              </a:rPr>
              <a:t>Rice (Paddy) — Tillering Stage | Laterite pH 5.2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AI Classification: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🟡 GRADE B (WATCH) • Stress Index: 38.4%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Prescribed Action: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Adopt Alternate Wetting &amp; Drying (AWD) water management.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Verification QR: </a:t>
            </a:r>
            <a:r>
              <a:rPr sz="1200">
                <a:solidFill>
                  <a:srgbClr val="1A2820"/>
                </a:solidFill>
                <a:latin typeface="Source Sans 3"/>
              </a:rPr>
              <a:t>[ 🔲 QR VERIFICATION ] • HASH: 48192026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Verification QR: </a:t>
            </a:r>
            <a:r>
              <a:rPr sz="1200">
                <a:solidFill>
                  <a:srgbClr val="1A2820"/>
                </a:solidFill>
                <a:latin typeface="Source Sans 3"/>
              </a:rPr>
              <a:t>[ 🔲 QR VERIFICATION ] • HASH: 48192026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5166360"/>
            <a:ext cx="521208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257800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🏛️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Deployable via 190+ Village Panchayat e-Gram kiosks to support PMFBY crop insurance claims and subsidy audits.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The AI Engine: Multi-Target Random Forest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Evaluating multi-dimensional environmental signals across Goan agriculture</a:t>
            </a:r>
          </a:p>
        </p:txBody>
      </p:sp>
      <p:pic>
        <p:nvPicPr>
          <p:cNvPr id="4" name="Picture 3" descr="slide7_pic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5486400" cy="37124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8998" y="2902305"/>
            <a:ext cx="1004011" cy="62369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Random Forest
Model</a:t>
            </a:r>
            <a:endParaRPr sz="105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7435" y="1792278"/>
            <a:ext cx="1486814" cy="55315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Hazard Predictions</a:t>
            </a:r>
            <a:endParaRPr sz="10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7 risks + composite stress</a:t>
            </a:r>
            <a:endParaRPr sz="8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62272" y="1792278"/>
            <a:ext cx="1486814" cy="55315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Weather Features</a:t>
            </a:r>
            <a:endParaRPr sz="10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Temperature, rain, humidity</a:t>
            </a:r>
            <a:endParaRPr sz="8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7435" y="4101431"/>
            <a:ext cx="1486814" cy="55315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Crop Features</a:t>
            </a:r>
            <a:endParaRPr sz="10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Growth stage, variety, health</a:t>
            </a:r>
            <a:endParaRPr sz="8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56785" y="4168255"/>
            <a:ext cx="1486814" cy="55315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Soil Features</a:t>
            </a:r>
            <a:endParaRPr sz="1000" b="1">
              <a:solidFill>
                <a:srgbClr val="FFFFFF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Moisture, pH, texture</a:t>
            </a:r>
            <a:endParaRPr sz="850">
              <a:solidFill>
                <a:srgbClr val="F0F8F2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548640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59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🧠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1 primary classifier + 6 binary hazard sub-models evaluate Goa's multi-stress factors in &lt;0.05 seconds.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92240" y="1417320"/>
            <a:ext cx="4983480" cy="2423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1" y="1545336"/>
            <a:ext cx="4654296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🧠 Machine Learning Architecture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Model Ensemble: </a:t>
            </a:r>
            <a:r>
              <a:rPr sz="1200">
                <a:solidFill>
                  <a:srgbClr val="1A2820"/>
                </a:solidFill>
                <a:latin typeface="Source Sans 3"/>
              </a:rPr>
              <a:t>1 primary stress classifier + 6 binary hazard models (Drought, Waterlog, Pest, Disease, Heat, Soil pH).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Microclimates: </a:t>
            </a:r>
            <a:r>
              <a:rPr sz="1200">
                <a:solidFill>
                  <a:srgbClr val="1A2820"/>
                </a:solidFill>
                <a:latin typeface="Source Sans 3"/>
              </a:rPr>
              <a:t>Models topography (e.g. 50mm rain in coastal Salcete vs. 80mm in sloped Sattari).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Speed: </a:t>
            </a:r>
            <a:r>
              <a:rPr sz="1200">
                <a:solidFill>
                  <a:srgbClr val="1A2820"/>
                </a:solidFill>
                <a:latin typeface="Source Sans 3"/>
              </a:rPr>
              <a:t>Engineered for single-record in-memory inference in under 0.05 seconds.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92240" y="4023360"/>
            <a:ext cx="4983480" cy="2423160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4151376"/>
            <a:ext cx="4654296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📊 Evaluation Benchmark Metrics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Primary Classifier: </a:t>
            </a:r>
            <a:r>
              <a:rPr sz="1200">
                <a:solidFill>
                  <a:srgbClr val="1A2820"/>
                </a:solidFill>
                <a:latin typeface="Source Sans 3"/>
              </a:rPr>
              <a:t>91.86% Accuracy | 96.38% Precision | 94.14% ROC-AUC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Hazard Sub-Models: </a:t>
            </a:r>
            <a:r>
              <a:rPr sz="1200">
                <a:solidFill>
                  <a:srgbClr val="1A2820"/>
                </a:solidFill>
                <a:latin typeface="Source Sans 3"/>
              </a:rPr>
              <a:t>Drought: 97.5% | Waterlog: 99.5% | Pests: 97.9% | Disease: 98.9%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Validation Plan: </a:t>
            </a:r>
            <a:r>
              <a:rPr sz="1200">
                <a:solidFill>
                  <a:srgbClr val="1A2820"/>
                </a:solidFill>
                <a:latin typeface="Source Sans 3"/>
              </a:rPr>
              <a:t>Trained on 3,500 synthetic samples; field calibration with ICAR/ZAO planned next.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Don't Just Predict Risk — Explain It (What-If &amp; XAI)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Decomposing environmental drivers of crop stress to build trust with agronomists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36576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🧪 What-If Diagnostic Simulation Sandbox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Stress Simulation: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Officers inject simulated weather anomalies to inspect real-time AI responses.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Dedicated Triggers: </a:t>
            </a:r>
            <a:r>
              <a:rPr sz="1200">
                <a:solidFill>
                  <a:srgbClr val="1A2820"/>
                </a:solidFill>
                <a:latin typeface="Source Sans 3"/>
              </a:rPr>
              <a:t>Explicit confirmation triggers prevent mid-input reload lag.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Weather Factors: </a:t>
            </a:r>
            <a:r>
              <a:rPr sz="1200">
                <a:solidFill>
                  <a:srgbClr val="1A2820"/>
                </a:solidFill>
                <a:latin typeface="Source Sans 3"/>
              </a:rPr>
              <a:t>24h Rain (0–350mm), Temperature (18–44°C), Relative Humidity (25–100%).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Soil &amp; Biology: </a:t>
            </a:r>
            <a:r>
              <a:rPr sz="1200">
                <a:solidFill>
                  <a:srgbClr val="1A2820"/>
                </a:solidFill>
                <a:latin typeface="Source Sans 3"/>
              </a:rPr>
              <a:t>Dry/Wet streaks, Soil Moisture (10–100%), pH (4.0–8.0), Pest pressure.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6576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Explainable AI (XAI) &amp; Actionable Guidance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Feature Attribution: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Gini impurity weights reveal the primary drivers behind each alert.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Transparent Reasoning: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Shows influence scores (e.g. Consecutive Dry Days: 0.216, Soil Moisture: 0.184).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6-Axis Radar Plots: </a:t>
            </a:r>
            <a:r>
              <a:rPr sz="1200">
                <a:solidFill>
                  <a:srgbClr val="1A2820"/>
                </a:solidFill>
                <a:latin typeface="Source Sans 3"/>
              </a:rPr>
              <a:t>Simultaneously plots drought, flooding, pests, disease, heat, and acidity.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Remediation Links: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Directly maps hazards to scientific ICAR-CCARI protocols in Konkani &amp; English.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94959"/>
            <a:ext cx="1033271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🔍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XAI eliminates the 'black box' by proving which environmental factors drove each alert before dispatch.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Multi-Modal Leaf Disease Scanner &amp; Telemetry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Fusing computer-vision lesion detection with live microclimatic conditions</a:t>
            </a:r>
          </a:p>
        </p:txBody>
      </p:sp>
      <p:pic>
        <p:nvPicPr>
          <p:cNvPr id="4" name="Picture 3" descr="slide9_pic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10058400" cy="3776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432864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32864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1. Leaf Image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Field sample upload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374136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4136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2. Computer Vision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HSV color analysis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75173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5173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3. Color &amp; Lesions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Necrosis area masking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176211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6211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4. Environmental Data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Microclimate fusion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087307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7307" y="3802440"/>
            <a:ext cx="1691640" cy="7772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5. Risk Assessment</a:t>
            </a:r>
            <a:endParaRPr sz="1050" b="1">
              <a:solidFill>
                <a:srgbClr val="0C2B1B"/>
              </a:solidFill>
              <a:latin typeface="Montserrat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Composite AI diagnosis</a:t>
            </a:r>
            <a:endParaRPr sz="850">
              <a:solidFill>
                <a:srgbClr val="4A6B56"/>
              </a:solidFill>
              <a:latin typeface="Source Sans 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5212080" cy="146304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157216"/>
            <a:ext cx="4882896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📸 Computer-Vision Leaf Analysis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Mobile Ingestion: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 field sample upload with RGB-to-HSV colorimetric segmentation.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Lesion Masking: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Calculates necrotic leaf ratios and spot clustering via NumPy &amp; PIL.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Goan Pathologies: </a:t>
            </a:r>
            <a:r>
              <a:rPr sz="1200">
                <a:solidFill>
                  <a:srgbClr val="1A2820"/>
                </a:solidFill>
                <a:latin typeface="Source Sans 3"/>
              </a:rPr>
              <a:t>Calibrated for Rice Blast (भाताचेर करपा), Cashew Blight &amp; Coconut Bud Rot.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5029200"/>
            <a:ext cx="5212080" cy="146304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5157216"/>
            <a:ext cx="4882896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🔬 Environmental Context Fusion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Beyond Pure Vision: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Visual symptoms alone cannot distinguish benign dirt from active fungal infection.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Microclimate Check: </a:t>
            </a:r>
            <a:r>
              <a:rPr sz="1200">
                <a:solidFill>
                  <a:srgbClr val="1A2820"/>
                </a:solidFill>
                <a:latin typeface="Source Sans 3"/>
              </a:rPr>
              <a:t>Cross-validates active spore proliferation (Humidity &gt;85% + Temp 24–32°C).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Targeted Guidance: </a:t>
            </a:r>
            <a:r>
              <a:rPr sz="1200">
                <a:solidFill>
                  <a:srgbClr val="1A2820"/>
                </a:solidFill>
                <a:latin typeface="Source Sans 3"/>
              </a:rPr>
              <a:t>Delivers high-confidence ICAR remediation protocols tailored to the taluka.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Bringing the Warning Directly to the Farmer (Digital Inclusivity)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Reaching Goan smallholders regardless of smartphone ownership or internet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2G SMS Dispatch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Basic Handsets: </a:t>
            </a:r>
            <a:r>
              <a:rPr sz="1200">
                <a:solidFill>
                  <a:srgbClr val="1A2820"/>
                </a:solidFill>
                <a:latin typeface="Source Sans 3"/>
              </a:rPr>
              <a:t>&lt;160 char alerts in Konkani delivered via 2G SMS to basic phones.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💬 WhatsApp Broadcast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Village Groups: </a:t>
            </a:r>
            <a:r>
              <a:rPr sz="1200">
                <a:solidFill>
                  <a:srgbClr val="1A2820"/>
                </a:solidFill>
                <a:latin typeface="Source Sans 3"/>
              </a:rPr>
              <a:t>1-click pre-formatted broadcasts for Panchayat WhatsApp groups.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🖥️ Command Center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Officer Console: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Interactive Streamlit platform with GIS maps and simulation.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🧾 Printable Kisan Card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Physical Bridge: </a:t>
            </a:r>
            <a:r>
              <a:rPr sz="1200">
                <a:solidFill>
                  <a:srgbClr val="1A2820"/>
                </a:solidFill>
                <a:latin typeface="Source Sans 3"/>
              </a:rPr>
              <a:t>Printable advisory cards for walk-in farmers at Panchayat kiosks.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Trilingual Empowerment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Native Konkani: </a:t>
            </a:r>
            <a:r>
              <a:rPr sz="1200">
                <a:solidFill>
                  <a:srgbClr val="1A2820"/>
                </a:solidFill>
                <a:latin typeface="Source Sans 3"/>
              </a:rPr>
              <a:t>Devanagari script removes language and literacy barriers.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State &amp; National: </a:t>
            </a:r>
            <a:r>
              <a:rPr sz="1200">
                <a:solidFill>
                  <a:srgbClr val="1A2820"/>
                </a:solidFill>
                <a:latin typeface="Source Sans 3"/>
              </a:rPr>
              <a:t>Full Hindi and English administrative toggles.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891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🛡️ Anti-Spam Governance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15-Min Cooldown: </a:t>
            </a:r>
            <a:r>
              <a:rPr sz="1200">
                <a:solidFill>
                  <a:srgbClr val="1A2820"/>
                </a:solidFill>
                <a:latin typeface="Source Sans 3"/>
              </a:rPr>
              <a:t>Rate limiting prevents alert fatigue from sensor fluctuations.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Urgent Priority: </a:t>
            </a:r>
            <a:r>
              <a:rPr sz="1200">
                <a:solidFill>
                  <a:srgbClr val="1A2820"/>
                </a:solidFill>
                <a:latin typeface="Source Sans 3"/>
              </a:rPr>
              <a:t>Guarantees immediate delivery for critical weather emergencies.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📑 Timestamped Audit Trail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Full Logging: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Every dispatched alert is permanently recorded with timestamps.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Official Export: </a:t>
            </a:r>
            <a:r>
              <a:rPr sz="1200">
                <a:solidFill>
                  <a:srgbClr val="1A2820"/>
                </a:solidFill>
                <a:latin typeface="Source Sans 3"/>
              </a:rPr>
              <a:t>Downloadable audit logs for government and insurance verification.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5257800"/>
            <a:ext cx="1074420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784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Early warnings are only useful if farmers receive them. Combining 2G SMS with Konkani ensures zero exclusion.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Responsible AI: Built for Safe Public-Sector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Ethical AI governance, transparency, and data privacy tailored for public agriculture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🔒 Data Privacy &amp; Minimal Collection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Minimal Footprint: </a:t>
            </a:r>
            <a:r>
              <a:rPr sz="1200">
                <a:solidFill>
                  <a:srgbClr val="1A2820"/>
                </a:solidFill>
                <a:latin typeface="Source Sans 3"/>
              </a:rPr>
              <a:t>Processes only environmental telemetry and anonymous plot coordinates.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Zero Surveillance: </a:t>
            </a:r>
            <a:r>
              <a:rPr sz="1200">
                <a:solidFill>
                  <a:srgbClr val="1A2820"/>
                </a:solidFill>
                <a:latin typeface="Source Sans 3"/>
              </a:rPr>
              <a:t>Collects no personal, financial, or banking credentials.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Full Model Explainability (XAI)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Transparent Attribution: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Every prediction exposes Gini impurity weights and radar breakdowns.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Zero Black Box: </a:t>
            </a:r>
            <a:r>
              <a:rPr sz="1200">
                <a:solidFill>
                  <a:srgbClr val="1A2820"/>
                </a:solidFill>
                <a:latin typeface="Source Sans 3"/>
              </a:rPr>
              <a:t>Officers see exactly which environmental factors triggered the alert.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55701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👨‍🌾 Human-in-the-Loop Governance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Decision Support: </a:t>
            </a:r>
            <a:r>
              <a:rPr sz="1200">
                <a:solidFill>
                  <a:srgbClr val="1A2820"/>
                </a:solidFill>
                <a:latin typeface="Source Sans 3"/>
              </a:rPr>
              <a:t>AI assists rather than replaces; agricultural officers hold final authority.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Human Override: </a:t>
            </a:r>
            <a:r>
              <a:rPr sz="1200">
                <a:solidFill>
                  <a:srgbClr val="1A2820"/>
                </a:solidFill>
                <a:latin typeface="Source Sans 3"/>
              </a:rPr>
              <a:t>Officers review and validate hazard warnings before bulk dispatch.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342900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55701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📊 Open Transparency &amp; Disclosure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Dataset Honesty: </a:t>
            </a:r>
            <a:r>
              <a:rPr sz="1200">
                <a:solidFill>
                  <a:srgbClr val="1A2820"/>
                </a:solidFill>
                <a:latin typeface="Source Sans 3"/>
              </a:rPr>
              <a:t>Synthetic baseline training and model limits are explicitly disclosed.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Open Governance: </a:t>
            </a:r>
            <a:r>
              <a:rPr sz="1200">
                <a:solidFill>
                  <a:srgbClr val="1A2820"/>
                </a:solidFill>
                <a:latin typeface="Source Sans 3"/>
              </a:rPr>
              <a:t>Built on Scikit-learn, Python, and ICAR agronomy with complete audit trails.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33271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⚖️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Designed as an accountable decision-support tool where agricultural officers retain final validation authority.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Future Deployment: From Hackathon Prototype to Goa-Wide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57300"/>
            <a:ext cx="5212080" cy="11430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281176"/>
            <a:ext cx="4882896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🌱 Phase 1 — Institutional Pilot (Months 1–3)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Pilot Deployment: </a:t>
            </a:r>
            <a:r>
              <a:rPr sz="1200">
                <a:solidFill>
                  <a:srgbClr val="1A2820"/>
                </a:solidFill>
                <a:latin typeface="Source Sans 3"/>
              </a:rPr>
              <a:t>Deploy across Zonal Agricultural Offices &amp; ICAR-CCARI Old Goa.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Model Tuning: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Calibrate synthetic models against actual Goan monsoon field data.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564765"/>
            <a:ext cx="5212080" cy="11430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29281"/>
            <a:ext cx="4882896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🏛️ Phase 2 — Community Access (Months 4–6)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Panchayat Rollout: </a:t>
            </a:r>
            <a:r>
              <a:rPr sz="1200">
                <a:solidFill>
                  <a:srgbClr val="1A2820"/>
                </a:solidFill>
                <a:latin typeface="Source Sans 3"/>
              </a:rPr>
              <a:t>Deploy printable Kisan Cards across 190+ e-Gram kiosks.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Farmer Onboarding: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Train local Krishi Mitras for village outreach.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879849"/>
            <a:ext cx="5212080" cy="11430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977385"/>
            <a:ext cx="4882896" cy="1082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Phase 3 — Farmer Outreach (Months 7–12)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Omnichannel Scale: </a:t>
            </a:r>
            <a:r>
              <a:rPr sz="1200">
                <a:solidFill>
                  <a:srgbClr val="1A2820"/>
                </a:solidFill>
                <a:latin typeface="Source Sans 3"/>
              </a:rPr>
              <a:t>Automate SMS, WhatsApp broadcasts, and Krishi call-centers.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Full State Reach: </a:t>
            </a:r>
            <a:r>
              <a:rPr sz="1200">
                <a:solidFill>
                  <a:srgbClr val="1A2820"/>
                </a:solidFill>
                <a:latin typeface="Source Sans 3"/>
              </a:rPr>
              <a:t>Coverage for smallholder farmers across all 12 Talukas.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281430"/>
            <a:ext cx="5212080" cy="3983355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350" y="1417320"/>
            <a:ext cx="4680585" cy="309943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🚀 Future Improvements &amp; Expansion Blueprint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📡 In-Field IoT: </a:t>
            </a:r>
            <a:r>
              <a:rPr sz="1200">
                <a:solidFill>
                  <a:srgbClr val="1A2820"/>
                </a:solidFill>
                <a:latin typeface="Source Sans 3"/>
              </a:rPr>
              <a:t>Capacitive moisture &amp; microclimate probes in Khazan/Morod lands.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🛰️ Satellite NDVI: </a:t>
            </a:r>
            <a:r>
              <a:rPr sz="1200">
                <a:solidFill>
                  <a:srgbClr val="1A2820"/>
                </a:solidFill>
                <a:latin typeface="Source Sans 3"/>
              </a:rPr>
              <a:t>Sentinel-2 / Landsat imagery for regional canopy stress mapping.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📊 Historical Data: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Integrate multi-decade Goan climate and harvest archives.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🔬 Scientific Trials: </a:t>
            </a:r>
            <a:r>
              <a:rPr sz="1200">
                <a:solidFill>
                  <a:srgbClr val="1A2820"/>
                </a:solidFill>
                <a:latin typeface="Source Sans 3"/>
              </a:rPr>
              <a:t>Longitudinal field trials with ICAR-CCARI and Directorate of Agriculture.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🌿 Expanded Vision: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Train models for Cashew Shoot Blight &amp; Arecanut Koleroga.</a:t>
            </a:r>
            <a:endParaRPr sz="1200">
              <a:solidFill>
                <a:srgbClr val="1A2820"/>
              </a:solidFill>
              <a:latin typeface="Source Sans 3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C2B1B"/>
                </a:solidFill>
                <a:latin typeface="Source Sans 3"/>
              </a:rPr>
              <a:t>🏛️ Govt Integration: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 links to PMFBY insurance claims and Goa Krishi Card databases.</a:t>
            </a:r>
            <a:endParaRPr sz="1200">
              <a:solidFill>
                <a:srgbClr val="1A2820"/>
              </a:solidFill>
              <a:latin typeface="Source Sans 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15820" y="5386070"/>
            <a:ext cx="777240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31390" y="5586094"/>
            <a:ext cx="74066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sz="1250" b="1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“AgriWatch Goa turns environmental data into early warnings — helping farmers act before crop stress becomes crop loss.”</a:t>
            </a:r>
            <a:endParaRPr sz="1250">
              <a:solidFill>
                <a:srgbClr val="1A2820"/>
              </a:solidFill>
              <a:latin typeface="Source Sans 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1_pic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34072" y="0"/>
            <a:ext cx="47548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5795" y="2598420"/>
            <a:ext cx="6400800" cy="1661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rgbClr val="FF0000"/>
                </a:solidFill>
              </a:rPr>
              <a:t>Thank You!</a:t>
            </a:r>
            <a:endParaRPr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  <a:defRPr sz="1400" b="1">
                <a:solidFill>
                  <a:srgbClr val="E2E8F0"/>
                </a:solidFill>
                <a:latin typeface="Source Sans 3"/>
              </a:defRPr>
            </a:pPr>
            <a:r>
              <a:rPr>
                <a:solidFill>
                  <a:schemeClr val="tx1"/>
                </a:solidFill>
              </a:rPr>
              <a:t>AgriWatch Goa — AI-Powered Crop Stress Detection &amp; Farm Early-Warning Platform.</a:t>
            </a:r>
            <a:endParaRPr>
              <a:solidFill>
                <a:schemeClr val="tx1"/>
              </a:solidFill>
            </a:endParaRPr>
          </a:p>
          <a:p>
            <a:pPr>
              <a:defRPr sz="1300">
                <a:solidFill>
                  <a:srgbClr val="BACCC0"/>
                </a:solidFill>
                <a:latin typeface="Source Sans 3"/>
              </a:defRPr>
            </a:pPr>
            <a:r>
              <a:t>Predictive intelligence protecting Goa's farmers before stress becomes crop loss.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14338</Words>
  <Application>WPS Presentation</Application>
  <PresentationFormat>On-screen Show (4:3)</PresentationFormat>
  <Paragraphs>295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Arial</vt:lpstr>
      <vt:lpstr>Montserrat</vt:lpstr>
      <vt:lpstr>Segoe Print</vt:lpstr>
      <vt:lpstr>Source Sans 3</vt:lpstr>
      <vt:lpstr>Calibri</vt:lpstr>
      <vt:lpstr>Microsoft YaHei</vt:lpstr>
      <vt:lpstr>Arial Unicode MS</vt:lpstr>
      <vt:lpstr>Nirmala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Lyam Fernandes</cp:lastModifiedBy>
  <cp:revision>4</cp:revision>
  <dcterms:created xsi:type="dcterms:W3CDTF">2013-01-27T09:14:00Z</dcterms:created>
  <dcterms:modified xsi:type="dcterms:W3CDTF">2026-10-04T11:11:02Z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7910ACDABF454F399A65AE6ABC135D47_12</vt:lpwstr>
  </property>
  <property fmtid="{D5CDD505-2E9C-101B-9397-08002B2CF9AE}" pid="3" name="KSOProductBuildVer">
    <vt:lpwstr>1033-12.1.0.28485</vt:lpwstr>
  </property>
</Properties>
</file>