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CUE:</a:t>
            </a:r>
          </a:p>
          <a:p>
            <a:r>
              <a:t>Respected judges, faculty, and esteemed guests. Welcome to our presentation of AgriWatch Goa—an AI-powered crop stress detection and farm early-warning platform built specifically for the State of Goa under Track #4 of the Sankalp Setu Hackathon at Rosary College of Commerce &amp; Arts.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CUE:</a:t>
            </a:r>
          </a:p>
          <a:p>
            <a:r>
              <a:t>Judges, across Goa's 12 talukas, from the low-lying Khazan fields of Salcete to the cashew slopes of Sattari, over 1.5 lakh farming families face a silent catastrophe every monsoon. By the time an elderly farmer notices yellowing leaves or fungal lesions, 30 to 40 percent of the harvest is already destroyed. Current support is entirely reactive. We asked: What if we predicted stress days before visible damage appears?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CUE:</a:t>
            </a:r>
          </a:p>
          <a:p>
            <a:r>
              <a:t>AgriWatch Goa shifts agricultural defense from reactive disaster compensation to proactive, preventative intelligence. It integrates real-time telemetry from all 12 Goa talukas, evaluates multi-target Random Forest models, and prescribes ICAR-CCARI treatments in native Konkani. Now, I hand over to Speaker 2 to demonstrate our live working prototype.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CUE:</a:t>
            </a:r>
          </a:p>
          <a:p>
            <a:r>
              <a:t>Judges, our architecture is built for extreme robustness. Layer 1 ingests meteorological feeds from live APIs or deterministic Goan climatic simulations. Layer 2 feeds 14 environmental variables through a StandardScaler pipeline into our primary Random Forest classifier and 6 hazard-specific sub-models. Layer 3 dispatches bilingual advisories through our Streamlit dashboard, printable Kisan Health Cards, and 2G SMS gateways.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CUE:</a:t>
            </a:r>
          </a:p>
          <a:p>
            <a:r>
              <a:t>Here on Tab 1 of our live dashboard is the Goa Command Center. Agricultural directors can view the entire state at a glance on an interactive Folium geospatial map. Notice how Ponda, Sattari, and Canacona are dynamically color-coded based on AI stress evaluations. With one click, officers can inspect taluka watchlists and toggle between English, Konkani, and Hindi.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CUE:</a:t>
            </a:r>
          </a:p>
          <a:p>
            <a:r>
              <a:t>Tab 4 generates an official, certified Kisan Crop Health Card. It solves a massive bureaucratic gap: when unseasonal rains ruin a crop, farmers struggle to prove weather stress to insurance agents. This printable card provides timestamped meteorological telemetry, a unique serial ID, QR code, and an AI health grade that fast-tracks PMFBY insurance payouts and ZAO subsidy verification. Now Speaker 3 will reveal our AI brain.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CUE:</a:t>
            </a:r>
          </a:p>
          <a:p>
            <a:r>
              <a:t>Judges, why did we choose AI over basic IF-THEN logic? Because agriculture is inherently multi-dimensional and non-linear. 80mm of rain on sloped terrain in Sattari after 10 dry days is beneficial; but 50mm of rain in a Salcete low-lying field after 5 wet days causes immediate fungal blast and root rot. Our primary Random Forest model achieves 91.86% overall accuracy, and our 6 hazard sub-models achieve 97 to 99.8% precision.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CUE:</a:t>
            </a:r>
          </a:p>
          <a:p>
            <a:r>
              <a:t>On Tab 2, our What-If Sandbox allows officers to simulate extreme weather disruptions. Notice our Explainable AI feature: we do not present a black box. The model proves why it flagged an alert—showing, for example, that 72% of the risk is driven by consecutive wet days. And right below, it translates the alert into official ICAR-CCARI treatment protocols in both English and Konkani.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CUE:</a:t>
            </a:r>
          </a:p>
          <a:p>
            <a:r>
              <a:t>On Tab 3, we introduce our Multi-Modal Vision Scanner. Standard computer vision apps fail in real fields because they confuse mud stains with fungal blast. Our innovation is Telemetry Fusion: the computer vision model checks whether the live taluka weather supports sporulation. If ambient humidity exceeds 85%, the risk is amplified, confirming an active outbreak and prescribing exact remedies. Now Speaker 4 will cover scalability and ethics.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CUE:</a:t>
            </a:r>
          </a:p>
          <a:p>
            <a:r>
              <a:t>Judges, an AI system that only works on high-end smartphones fails the public-service test. Many elderly farmers in rural Canacona or Sattari rely on basic 2G feature phones. Tab 6 formats concise SMS alerts in native Konkani under 160 characters. We enforce a 15-minute anti-spam rate limiter and log every broadcast into an immutable CSV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CUE:</a:t>
            </a:r>
          </a:p>
          <a:p>
            <a:r>
              <a:t>For Responsible AI, we hit every single guideline in the hackathon framework. First, we collect zero citizen PII, complying 100% with India's Digital Personal Data Protection Act 2023. Second, we conducted a taluka-level fairness audit ensuring inland talukas like Sattari receive the same 91%+ model accuracy as coastal Salcete. Third, we include a complete AI Tool Disclosure table directly in Tab 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CUE (CLOSING PUNCHLINE):</a:t>
            </a:r>
          </a:p>
          <a:p>
            <a:r>
              <a:t>Finally, scalability and cost. AgriWatch Goa integrates seamlessly into Goa's 190+ Village Panchayat e-Gram kiosks, KVKs, and the toll-free Kisan Call Centre (1800-180-1551). With a deployment cost under ₹1.5 lakhs using open-source infrastructure, this system can help protect an estimated ₹50 to 80 Crores annually in preventable crop losses. Sankalp Setu means a bridge of dedication—AgriWatch Goa is that bridge between AI and the farmers who feed our state.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188720"/>
            <a:ext cx="10362895" cy="2926080"/>
          </a:xfrm>
          <a:prstGeom prst="rect">
            <a:avLst/>
          </a:prstGeom>
          <a:noFill/>
        </p:spPr>
        <p:txBody>
          <a:bodyPr wrap="square">
            <a:spAutoFit/>
          </a:bodyPr>
          <a:lstStyle/>
          <a:p>
            <a:pPr>
              <a:defRPr sz="1200" b="1">
                <a:solidFill>
                  <a:srgbClr val="10B981"/>
                </a:solidFill>
              </a:defRPr>
            </a:pPr>
            <a:r>
              <a:t>SANKALP SETU — COLLEGE-LEVEL HACKATHON 2026 • TRACK #4</a:t>
            </a:r>
          </a:p>
          <a:p>
            <a:pPr>
              <a:spcBef>
                <a:spcPts val="800"/>
              </a:spcBef>
              <a:defRPr sz="4400" b="1">
                <a:solidFill>
                  <a:srgbClr val="F8FAFC"/>
                </a:solidFill>
              </a:defRPr>
            </a:pPr>
            <a:r>
              <a:t>🌾 AgriWatch Goa</a:t>
            </a:r>
          </a:p>
          <a:p>
            <a:pPr>
              <a:spcBef>
                <a:spcPts val="600"/>
              </a:spcBef>
              <a:defRPr sz="2000" b="1">
                <a:solidFill>
                  <a:srgbClr val="38BDF8"/>
                </a:solidFill>
              </a:defRPr>
            </a:pPr>
            <a:r>
              <a:t>AI-Powered Crop Stress Detection &amp; Farm Early-Warning Platform for Goa</a:t>
            </a:r>
          </a:p>
          <a:p>
            <a:pPr>
              <a:spcBef>
                <a:spcPts val="1200"/>
              </a:spcBef>
              <a:defRPr sz="1400">
                <a:solidFill>
                  <a:srgbClr val="94A3B8"/>
                </a:solidFill>
              </a:defRPr>
            </a:pPr>
            <a:r>
              <a:t>Predictive Agro-Meteorological Intelligence Across 12 Talukas • Powered by Random Forest Ensembles &amp; ICAR-CCARI Protocols</a:t>
            </a:r>
          </a:p>
        </p:txBody>
      </p:sp>
      <p:sp>
        <p:nvSpPr>
          <p:cNvPr id="4" name="Rounded Rectangle 3"/>
          <p:cNvSpPr/>
          <p:nvPr/>
        </p:nvSpPr>
        <p:spPr>
          <a:xfrm>
            <a:off x="914400" y="4389120"/>
            <a:ext cx="3200400" cy="173736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4617720"/>
            <a:ext cx="2743200" cy="1280160"/>
          </a:xfrm>
          <a:prstGeom prst="rect">
            <a:avLst/>
          </a:prstGeom>
          <a:noFill/>
        </p:spPr>
        <p:txBody>
          <a:bodyPr wrap="square" lIns="0" tIns="0" rIns="0" bIns="0">
            <a:spAutoFit/>
          </a:bodyPr>
          <a:lstStyle/>
          <a:p>
            <a:pPr>
              <a:defRPr b="1" sz="1600">
                <a:solidFill>
                  <a:srgbClr val="38BDF8"/>
                </a:solidFill>
              </a:defRPr>
            </a:pPr>
            <a:r>
              <a:t>🏛️ Organizers &amp; Host</a:t>
            </a:r>
          </a:p>
          <a:p>
            <a:pPr>
              <a:spcBef>
                <a:spcPts val="800"/>
              </a:spcBef>
              <a:defRPr sz="1200">
                <a:solidFill>
                  <a:srgbClr val="CBD5E1"/>
                </a:solidFill>
              </a:defRPr>
            </a:pPr>
            <a:r>
              <a:rPr b="1">
                <a:solidFill>
                  <a:srgbClr val="F8FAFC"/>
                </a:solidFill>
              </a:rPr>
              <a:t>Event: </a:t>
            </a:r>
            <a:r>
              <a:t>Sankalp Setu Hackathon 2026</a:t>
            </a:r>
          </a:p>
          <a:p>
            <a:pPr>
              <a:spcBef>
                <a:spcPts val="800"/>
              </a:spcBef>
              <a:defRPr sz="1200">
                <a:solidFill>
                  <a:srgbClr val="CBD5E1"/>
                </a:solidFill>
              </a:defRPr>
            </a:pPr>
            <a:r>
              <a:rPr b="1">
                <a:solidFill>
                  <a:srgbClr val="F8FAFC"/>
                </a:solidFill>
              </a:rPr>
              <a:t>Venue: </a:t>
            </a:r>
            <a:r>
              <a:t>Rosary College, Navelim</a:t>
            </a:r>
          </a:p>
          <a:p>
            <a:pPr>
              <a:spcBef>
                <a:spcPts val="800"/>
              </a:spcBef>
              <a:defRPr sz="1200">
                <a:solidFill>
                  <a:srgbClr val="CBD5E1"/>
                </a:solidFill>
              </a:defRPr>
            </a:pPr>
            <a:r>
              <a:rPr b="1">
                <a:solidFill>
                  <a:srgbClr val="F8FAFC"/>
                </a:solidFill>
              </a:rPr>
              <a:t>Initiative: </a:t>
            </a:r>
            <a:r>
              <a:t>DITEC · SITPC · DHE (Govt of Goa)</a:t>
            </a:r>
          </a:p>
        </p:txBody>
      </p:sp>
      <p:sp>
        <p:nvSpPr>
          <p:cNvPr id="6" name="Rounded Rectangle 5"/>
          <p:cNvSpPr/>
          <p:nvPr/>
        </p:nvSpPr>
        <p:spPr>
          <a:xfrm>
            <a:off x="4480560" y="4389120"/>
            <a:ext cx="3200400" cy="173736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09160" y="4617720"/>
            <a:ext cx="2743200" cy="1280160"/>
          </a:xfrm>
          <a:prstGeom prst="rect">
            <a:avLst/>
          </a:prstGeom>
          <a:noFill/>
        </p:spPr>
        <p:txBody>
          <a:bodyPr wrap="square" lIns="0" tIns="0" rIns="0" bIns="0">
            <a:spAutoFit/>
          </a:bodyPr>
          <a:lstStyle/>
          <a:p>
            <a:pPr>
              <a:defRPr b="1" sz="1600">
                <a:solidFill>
                  <a:srgbClr val="10B981"/>
                </a:solidFill>
              </a:defRPr>
            </a:pPr>
            <a:r>
              <a:t>🎯 Challenge Track</a:t>
            </a:r>
          </a:p>
          <a:p>
            <a:pPr>
              <a:spcBef>
                <a:spcPts val="800"/>
              </a:spcBef>
              <a:defRPr sz="1200">
                <a:solidFill>
                  <a:srgbClr val="CBD5E1"/>
                </a:solidFill>
              </a:defRPr>
            </a:pPr>
            <a:r>
              <a:rPr b="1">
                <a:solidFill>
                  <a:srgbClr val="F8FAFC"/>
                </a:solidFill>
              </a:rPr>
              <a:t>Track #4: </a:t>
            </a:r>
            <a:r>
              <a:t>Agriculture, Fisheries &amp; Rural Innovation</a:t>
            </a:r>
          </a:p>
          <a:p>
            <a:pPr>
              <a:spcBef>
                <a:spcPts val="800"/>
              </a:spcBef>
              <a:defRPr sz="1200">
                <a:solidFill>
                  <a:srgbClr val="CBD5E1"/>
                </a:solidFill>
              </a:defRPr>
            </a:pPr>
            <a:r>
              <a:rPr b="1">
                <a:solidFill>
                  <a:srgbClr val="F8FAFC"/>
                </a:solidFill>
              </a:rPr>
              <a:t>Focus: </a:t>
            </a:r>
            <a:r>
              <a:t>Smart farming, crop security &amp; low-tech farmer empowerment</a:t>
            </a:r>
          </a:p>
          <a:p>
            <a:pPr>
              <a:spcBef>
                <a:spcPts val="800"/>
              </a:spcBef>
              <a:defRPr sz="1200">
                <a:solidFill>
                  <a:srgbClr val="CBD5E1"/>
                </a:solidFill>
              </a:defRPr>
            </a:pPr>
            <a:r>
              <a:rPr b="1">
                <a:solidFill>
                  <a:srgbClr val="F8FAFC"/>
                </a:solidFill>
              </a:rPr>
              <a:t>Coverage: </a:t>
            </a:r>
            <a:r>
              <a:t>All 12 Talukas &amp; Native Crops</a:t>
            </a:r>
          </a:p>
        </p:txBody>
      </p:sp>
      <p:sp>
        <p:nvSpPr>
          <p:cNvPr id="8" name="Rounded Rectangle 7"/>
          <p:cNvSpPr/>
          <p:nvPr/>
        </p:nvSpPr>
        <p:spPr>
          <a:xfrm>
            <a:off x="8046720" y="4389120"/>
            <a:ext cx="3200400" cy="173736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5320" y="4617720"/>
            <a:ext cx="2743200" cy="1280160"/>
          </a:xfrm>
          <a:prstGeom prst="rect">
            <a:avLst/>
          </a:prstGeom>
          <a:noFill/>
        </p:spPr>
        <p:txBody>
          <a:bodyPr wrap="square" lIns="0" tIns="0" rIns="0" bIns="0">
            <a:spAutoFit/>
          </a:bodyPr>
          <a:lstStyle/>
          <a:p>
            <a:pPr>
              <a:defRPr b="1" sz="1600">
                <a:solidFill>
                  <a:srgbClr val="F59E0B"/>
                </a:solidFill>
              </a:defRPr>
            </a:pPr>
            <a:r>
              <a:t>👥 4-Member Team</a:t>
            </a:r>
          </a:p>
          <a:p>
            <a:pPr>
              <a:spcBef>
                <a:spcPts val="800"/>
              </a:spcBef>
              <a:defRPr sz="1200">
                <a:solidFill>
                  <a:srgbClr val="CBD5E1"/>
                </a:solidFill>
              </a:defRPr>
            </a:pPr>
            <a:r>
              <a:rPr b="1">
                <a:solidFill>
                  <a:srgbClr val="F8FAFC"/>
                </a:solidFill>
              </a:rPr>
              <a:t>Speaker 1: </a:t>
            </a:r>
            <a:r>
              <a:t>Public Problem &amp; Relevance</a:t>
            </a:r>
          </a:p>
          <a:p>
            <a:pPr>
              <a:spcBef>
                <a:spcPts val="800"/>
              </a:spcBef>
              <a:defRPr sz="1200">
                <a:solidFill>
                  <a:srgbClr val="CBD5E1"/>
                </a:solidFill>
              </a:defRPr>
            </a:pPr>
            <a:r>
              <a:rPr b="1">
                <a:solidFill>
                  <a:srgbClr val="F8FAFC"/>
                </a:solidFill>
              </a:rPr>
              <a:t>Speaker 2: </a:t>
            </a:r>
            <a:r>
              <a:t>Live Prototype &amp; Command Center</a:t>
            </a:r>
          </a:p>
          <a:p>
            <a:pPr>
              <a:spcBef>
                <a:spcPts val="800"/>
              </a:spcBef>
              <a:defRPr sz="1200">
                <a:solidFill>
                  <a:srgbClr val="CBD5E1"/>
                </a:solidFill>
              </a:defRPr>
            </a:pPr>
            <a:r>
              <a:rPr b="1">
                <a:solidFill>
                  <a:srgbClr val="F8FAFC"/>
                </a:solidFill>
              </a:rPr>
              <a:t>Speaker 3: </a:t>
            </a:r>
            <a:r>
              <a:t>AI Engine, XAI &amp; Vision Model</a:t>
            </a:r>
          </a:p>
          <a:p>
            <a:pPr>
              <a:spcBef>
                <a:spcPts val="800"/>
              </a:spcBef>
              <a:defRPr sz="1200">
                <a:solidFill>
                  <a:srgbClr val="CBD5E1"/>
                </a:solidFill>
              </a:defRPr>
            </a:pPr>
            <a:r>
              <a:rPr b="1">
                <a:solidFill>
                  <a:srgbClr val="F8FAFC"/>
                </a:solidFill>
              </a:rPr>
              <a:t>Speaker 4: </a:t>
            </a:r>
            <a:r>
              <a:t>Scalability, Ethics &amp; Financial ROI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r>
              <a:rPr b="1" sz="1100">
                <a:solidFill>
                  <a:srgbClr val="38BDF8"/>
                </a:solidFill>
              </a:rPr>
              <a:t>SPEAKER 1  |  </a:t>
            </a:r>
            <a:r>
              <a:rPr b="1" sz="1100">
                <a:solidFill>
                  <a:srgbClr val="10B981"/>
                </a:solidFill>
              </a:rPr>
              <a:t>🎯 TARGETING: PUBLIC-SERVICE RELEVANCE (25 MARKS)</a:t>
            </a:r>
          </a:p>
          <a:p>
            <a:pPr>
              <a:defRPr b="1" sz="2400">
                <a:solidFill>
                  <a:srgbClr val="F8FAFC"/>
                </a:solidFill>
              </a:defRPr>
            </a:pPr>
            <a:r>
              <a:t>The Silent Agricultural Crisis in Goa's 12 Talukas</a:t>
            </a:r>
          </a:p>
          <a:p>
            <a:pPr>
              <a:defRPr sz="1300">
                <a:solidFill>
                  <a:srgbClr val="94A3B8"/>
                </a:solidFill>
              </a:defRPr>
            </a:pPr>
            <a:r>
              <a:t>Why Goa's 1.5 Lakh+ agrarian families lose 30-40% yield before detection</a:t>
            </a:r>
          </a:p>
        </p:txBody>
      </p:sp>
      <p:sp>
        <p:nvSpPr>
          <p:cNvPr id="4" name="Rounded Rectangle 3"/>
          <p:cNvSpPr/>
          <p:nvPr/>
        </p:nvSpPr>
        <p:spPr>
          <a:xfrm>
            <a:off x="731520" y="1645920"/>
            <a:ext cx="32918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2834640" cy="4114800"/>
          </a:xfrm>
          <a:prstGeom prst="rect">
            <a:avLst/>
          </a:prstGeom>
          <a:noFill/>
        </p:spPr>
        <p:txBody>
          <a:bodyPr wrap="square" lIns="0" tIns="0" rIns="0" bIns="0">
            <a:spAutoFit/>
          </a:bodyPr>
          <a:lstStyle/>
          <a:p>
            <a:pPr>
              <a:defRPr b="1" sz="1600">
                <a:solidFill>
                  <a:srgbClr val="38BDF8"/>
                </a:solidFill>
              </a:defRPr>
            </a:pPr>
            <a:r>
              <a:t>🌴 The Goan Reality</a:t>
            </a:r>
          </a:p>
          <a:p>
            <a:pPr>
              <a:spcBef>
                <a:spcPts val="800"/>
              </a:spcBef>
              <a:defRPr sz="1200">
                <a:solidFill>
                  <a:srgbClr val="CBD5E1"/>
                </a:solidFill>
              </a:defRPr>
            </a:pPr>
            <a:r>
              <a:rPr b="1">
                <a:solidFill>
                  <a:srgbClr val="F8FAFC"/>
                </a:solidFill>
              </a:rPr>
              <a:t>1.5 Lakh+ Families: </a:t>
            </a:r>
            <a:r>
              <a:t>Directly depend on agriculture for their livelihood across coastal and hinterland talukas.</a:t>
            </a:r>
          </a:p>
          <a:p>
            <a:pPr>
              <a:spcBef>
                <a:spcPts val="800"/>
              </a:spcBef>
              <a:defRPr sz="1200">
                <a:solidFill>
                  <a:srgbClr val="CBD5E1"/>
                </a:solidFill>
              </a:defRPr>
            </a:pPr>
            <a:r>
              <a:rPr b="1">
                <a:solidFill>
                  <a:srgbClr val="F8FAFC"/>
                </a:solidFill>
              </a:rPr>
              <a:t>Fragile Microclimates: </a:t>
            </a:r>
            <a:r>
              <a:t>Extreme precipitation shifts, heavy kharif monsoons, and sharp post-monsoon dry spells.</a:t>
            </a:r>
          </a:p>
          <a:p>
            <a:pPr>
              <a:spcBef>
                <a:spcPts val="800"/>
              </a:spcBef>
              <a:defRPr sz="1200">
                <a:solidFill>
                  <a:srgbClr val="CBD5E1"/>
                </a:solidFill>
              </a:defRPr>
            </a:pPr>
            <a:r>
              <a:rPr b="1">
                <a:solidFill>
                  <a:srgbClr val="F8FAFC"/>
                </a:solidFill>
              </a:rPr>
              <a:t>Vulnerable Native Crops: </a:t>
            </a:r>
            <a:r>
              <a:t>Kharif Paddy (Rice), Cashew (55,000+ Ha), Coconut palms, and Mankurad Mango.</a:t>
            </a:r>
          </a:p>
          <a:p>
            <a:pPr>
              <a:spcBef>
                <a:spcPts val="800"/>
              </a:spcBef>
              <a:defRPr sz="1200">
                <a:solidFill>
                  <a:srgbClr val="CBD5E1"/>
                </a:solidFill>
              </a:defRPr>
            </a:pPr>
            <a:r>
              <a:rPr b="1">
                <a:solidFill>
                  <a:srgbClr val="F8FAFC"/>
                </a:solidFill>
              </a:rPr>
              <a:t>Acidic Laterite Soil: </a:t>
            </a:r>
            <a:r>
              <a:t>Naturally low pH (4.8-5.8) causing severe root toxicity under prolonged saturation.</a:t>
            </a:r>
          </a:p>
        </p:txBody>
      </p:sp>
      <p:sp>
        <p:nvSpPr>
          <p:cNvPr id="6" name="Rounded Rectangle 5"/>
          <p:cNvSpPr/>
          <p:nvPr/>
        </p:nvSpPr>
        <p:spPr>
          <a:xfrm>
            <a:off x="4389120" y="1645920"/>
            <a:ext cx="3291840" cy="4572000"/>
          </a:xfrm>
          <a:prstGeom prst="roundRect">
            <a:avLst/>
          </a:prstGeom>
          <a:solidFill>
            <a:srgbClr val="16213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74519"/>
            <a:ext cx="2834640" cy="4114800"/>
          </a:xfrm>
          <a:prstGeom prst="rect">
            <a:avLst/>
          </a:prstGeom>
          <a:noFill/>
        </p:spPr>
        <p:txBody>
          <a:bodyPr wrap="square" lIns="0" tIns="0" rIns="0" bIns="0">
            <a:spAutoFit/>
          </a:bodyPr>
          <a:lstStyle/>
          <a:p>
            <a:pPr>
              <a:defRPr b="1" sz="1600">
                <a:solidFill>
                  <a:srgbClr val="EF4444"/>
                </a:solidFill>
              </a:defRPr>
            </a:pPr>
            <a:r>
              <a:t>⚠️ The Core Problem</a:t>
            </a:r>
          </a:p>
          <a:p>
            <a:pPr>
              <a:spcBef>
                <a:spcPts val="800"/>
              </a:spcBef>
              <a:defRPr sz="1200">
                <a:solidFill>
                  <a:srgbClr val="CBD5E1"/>
                </a:solidFill>
              </a:defRPr>
            </a:pPr>
            <a:r>
              <a:rPr b="1">
                <a:solidFill>
                  <a:srgbClr val="F8FAFC"/>
                </a:solidFill>
              </a:rPr>
              <a:t>The 'Too-Late' Dilemma: </a:t>
            </a:r>
            <a:r>
              <a:t>By the time fungal blast, cashew dieback, or root rot is visible to the naked eye, 30% to 40% of crop yield is already permanently lost.</a:t>
            </a:r>
          </a:p>
          <a:p>
            <a:pPr>
              <a:spcBef>
                <a:spcPts val="800"/>
              </a:spcBef>
              <a:defRPr sz="1200">
                <a:solidFill>
                  <a:srgbClr val="CBD5E1"/>
                </a:solidFill>
              </a:defRPr>
            </a:pPr>
            <a:r>
              <a:rPr b="1">
                <a:solidFill>
                  <a:srgbClr val="F8FAFC"/>
                </a:solidFill>
              </a:rPr>
              <a:t>Reactive Support: </a:t>
            </a:r>
            <a:r>
              <a:t>Current government schemes compensate after destruction occurs. There is zero pre-emptive warning.</a:t>
            </a:r>
          </a:p>
          <a:p>
            <a:pPr>
              <a:spcBef>
                <a:spcPts val="800"/>
              </a:spcBef>
              <a:defRPr sz="1200">
                <a:solidFill>
                  <a:srgbClr val="CBD5E1"/>
                </a:solidFill>
              </a:defRPr>
            </a:pPr>
            <a:r>
              <a:rPr b="1">
                <a:solidFill>
                  <a:srgbClr val="F8FAFC"/>
                </a:solidFill>
              </a:rPr>
              <a:t>Economic Hemorrhage: </a:t>
            </a:r>
            <a:r>
              <a:t>Goa's agrarian economy loses ₹50 to 80 Crores annually in preventable crop damage.</a:t>
            </a:r>
          </a:p>
        </p:txBody>
      </p:sp>
      <p:sp>
        <p:nvSpPr>
          <p:cNvPr id="8" name="Rounded Rectangle 7"/>
          <p:cNvSpPr/>
          <p:nvPr/>
        </p:nvSpPr>
        <p:spPr>
          <a:xfrm>
            <a:off x="8046720" y="1645920"/>
            <a:ext cx="3383280" cy="4572000"/>
          </a:xfrm>
          <a:prstGeom prst="roundRect">
            <a:avLst/>
          </a:prstGeom>
          <a:solidFill>
            <a:srgbClr val="1621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5320" y="1874519"/>
            <a:ext cx="2926080" cy="4114800"/>
          </a:xfrm>
          <a:prstGeom prst="rect">
            <a:avLst/>
          </a:prstGeom>
          <a:noFill/>
        </p:spPr>
        <p:txBody>
          <a:bodyPr wrap="square" lIns="0" tIns="0" rIns="0" bIns="0">
            <a:spAutoFit/>
          </a:bodyPr>
          <a:lstStyle/>
          <a:p>
            <a:pPr>
              <a:defRPr b="1" sz="1600">
                <a:solidFill>
                  <a:srgbClr val="10B981"/>
                </a:solidFill>
              </a:defRPr>
            </a:pPr>
            <a:r>
              <a:t>❓ The Million-Dollar Question</a:t>
            </a:r>
          </a:p>
          <a:p>
            <a:pPr>
              <a:spcBef>
                <a:spcPts val="800"/>
              </a:spcBef>
              <a:defRPr sz="1200">
                <a:solidFill>
                  <a:srgbClr val="CBD5E1"/>
                </a:solidFill>
              </a:defRPr>
            </a:pPr>
            <a:r>
              <a:rPr b="1">
                <a:solidFill>
                  <a:srgbClr val="F8FAFC"/>
                </a:solidFill>
              </a:rPr>
              <a:t>The Hypothesis: </a:t>
            </a:r>
            <a:r>
              <a:t>What if the Goa Agriculture Department could detect invisible physiological crop stress 5 to 7 days BEFORE physical symptoms ever appear?</a:t>
            </a:r>
          </a:p>
          <a:p>
            <a:pPr>
              <a:spcBef>
                <a:spcPts val="800"/>
              </a:spcBef>
              <a:defRPr sz="1200">
                <a:solidFill>
                  <a:srgbClr val="CBD5E1"/>
                </a:solidFill>
              </a:defRPr>
            </a:pPr>
            <a:r>
              <a:rPr b="1">
                <a:solidFill>
                  <a:srgbClr val="F8FAFC"/>
                </a:solidFill>
              </a:rPr>
              <a:t>The Mission: </a:t>
            </a:r>
            <a:r>
              <a:t>Bridge advanced meteorology, multi-target machine learning, and vernacular communication into a low-cost public early-warning utility.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r>
              <a:rPr b="1" sz="1100">
                <a:solidFill>
                  <a:srgbClr val="38BDF8"/>
                </a:solidFill>
              </a:rPr>
              <a:t>SPEAKER 1  |  </a:t>
            </a:r>
            <a:r>
              <a:rPr b="1" sz="1100">
                <a:solidFill>
                  <a:srgbClr val="10B981"/>
                </a:solidFill>
              </a:rPr>
              <a:t>🎯 TARGETING: PUBLIC-SERVICE RELEVANCE (25 MARKS)</a:t>
            </a:r>
          </a:p>
          <a:p>
            <a:pPr>
              <a:defRPr b="1" sz="2400">
                <a:solidFill>
                  <a:srgbClr val="F8FAFC"/>
                </a:solidFill>
              </a:defRPr>
            </a:pPr>
            <a:r>
              <a:t>AgriWatch Goa: A Paradigm Shift from Reactive to Predictive</a:t>
            </a:r>
          </a:p>
          <a:p>
            <a:pPr>
              <a:defRPr sz="1300">
                <a:solidFill>
                  <a:srgbClr val="94A3B8"/>
                </a:solidFill>
              </a:defRPr>
            </a:pPr>
            <a:r>
              <a:t>Hyper-localized, predictive agro-meteorological intelligence for Goa</a:t>
            </a:r>
          </a:p>
        </p:txBody>
      </p:sp>
      <p:sp>
        <p:nvSpPr>
          <p:cNvPr id="4" name="Rounded Rectangle 3"/>
          <p:cNvSpPr/>
          <p:nvPr/>
        </p:nvSpPr>
        <p:spPr>
          <a:xfrm>
            <a:off x="731520" y="1645920"/>
            <a:ext cx="51206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4663440" cy="4114800"/>
          </a:xfrm>
          <a:prstGeom prst="rect">
            <a:avLst/>
          </a:prstGeom>
          <a:noFill/>
        </p:spPr>
        <p:txBody>
          <a:bodyPr wrap="square" lIns="0" tIns="0" rIns="0" bIns="0">
            <a:spAutoFit/>
          </a:bodyPr>
          <a:lstStyle/>
          <a:p>
            <a:pPr>
              <a:defRPr b="1" sz="1600">
                <a:solidFill>
                  <a:srgbClr val="10B981"/>
                </a:solidFill>
              </a:defRPr>
            </a:pPr>
            <a:r>
              <a:t>✨ What Makes AgriWatch Unique</a:t>
            </a:r>
          </a:p>
          <a:p>
            <a:pPr>
              <a:spcBef>
                <a:spcPts val="800"/>
              </a:spcBef>
              <a:defRPr sz="1200">
                <a:solidFill>
                  <a:srgbClr val="CBD5E1"/>
                </a:solidFill>
              </a:defRPr>
            </a:pPr>
            <a:r>
              <a:rPr b="1">
                <a:solidFill>
                  <a:srgbClr val="F8FAFC"/>
                </a:solidFill>
              </a:rPr>
              <a:t>🔮 Predictive, Not Reactive: </a:t>
            </a:r>
            <a:r>
              <a:t>Forecasts physiological stress thresholds using live weather &amp; soil telemetry instead of waiting for leaf death.</a:t>
            </a:r>
          </a:p>
          <a:p>
            <a:pPr>
              <a:spcBef>
                <a:spcPts val="800"/>
              </a:spcBef>
              <a:defRPr sz="1200">
                <a:solidFill>
                  <a:srgbClr val="CBD5E1"/>
                </a:solidFill>
              </a:defRPr>
            </a:pPr>
            <a:r>
              <a:rPr b="1">
                <a:solidFill>
                  <a:srgbClr val="F8FAFC"/>
                </a:solidFill>
              </a:rPr>
              <a:t>📍 Hyper-Localized to 12 Talukas: </a:t>
            </a:r>
            <a:r>
              <a:t>Pre-configured geospatial coordinates, soil profiles, and primary cropping calendars for all Goa talukas.</a:t>
            </a:r>
          </a:p>
          <a:p>
            <a:pPr>
              <a:spcBef>
                <a:spcPts val="800"/>
              </a:spcBef>
              <a:defRPr sz="1200">
                <a:solidFill>
                  <a:srgbClr val="CBD5E1"/>
                </a:solidFill>
              </a:defRPr>
            </a:pPr>
            <a:r>
              <a:rPr b="1">
                <a:solidFill>
                  <a:srgbClr val="F8FAFC"/>
                </a:solidFill>
              </a:rPr>
              <a:t>🌐 Trilingual Vernacular Engine: </a:t>
            </a:r>
            <a:r>
              <a:t>Native Konkani (गोंयची राजभास in Devanagari), Hindi, and English—zero language barriers.</a:t>
            </a:r>
          </a:p>
          <a:p>
            <a:pPr>
              <a:spcBef>
                <a:spcPts val="800"/>
              </a:spcBef>
              <a:defRPr sz="1200">
                <a:solidFill>
                  <a:srgbClr val="CBD5E1"/>
                </a:solidFill>
              </a:defRPr>
            </a:pPr>
            <a:r>
              <a:rPr b="1">
                <a:solidFill>
                  <a:srgbClr val="F8FAFC"/>
                </a:solidFill>
              </a:rPr>
              <a:t>🌱 ICAR-CCARI Prescriptions: </a:t>
            </a:r>
            <a:r>
              <a:t>Scientifically verified remedies from the Central Coastal Agricultural Research Institute (Old Goa).</a:t>
            </a:r>
          </a:p>
        </p:txBody>
      </p:sp>
      <p:sp>
        <p:nvSpPr>
          <p:cNvPr id="6" name="Rounded Rectangle 5"/>
          <p:cNvSpPr/>
          <p:nvPr/>
        </p:nvSpPr>
        <p:spPr>
          <a:xfrm>
            <a:off x="6217920" y="1645920"/>
            <a:ext cx="5212080" cy="4572000"/>
          </a:xfrm>
          <a:prstGeom prst="roundRect">
            <a:avLst/>
          </a:prstGeom>
          <a:solidFill>
            <a:srgbClr val="1621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74519"/>
            <a:ext cx="4754880" cy="4114800"/>
          </a:xfrm>
          <a:prstGeom prst="rect">
            <a:avLst/>
          </a:prstGeom>
          <a:noFill/>
        </p:spPr>
        <p:txBody>
          <a:bodyPr wrap="square" lIns="0" tIns="0" rIns="0" bIns="0">
            <a:spAutoFit/>
          </a:bodyPr>
          <a:lstStyle/>
          <a:p>
            <a:pPr>
              <a:defRPr b="1" sz="1600">
                <a:solidFill>
                  <a:srgbClr val="38BDF8"/>
                </a:solidFill>
              </a:defRPr>
            </a:pPr>
            <a:r>
              <a:t>🎯 Scoring Criteria Alignment (100 Marks)</a:t>
            </a:r>
          </a:p>
          <a:p>
            <a:pPr>
              <a:spcBef>
                <a:spcPts val="800"/>
              </a:spcBef>
              <a:defRPr sz="1200">
                <a:solidFill>
                  <a:srgbClr val="CBD5E1"/>
                </a:solidFill>
              </a:defRPr>
            </a:pPr>
            <a:r>
              <a:rPr b="1">
                <a:solidFill>
                  <a:srgbClr val="F8FAFC"/>
                </a:solidFill>
              </a:rPr>
              <a:t>Public-Service Relevance (25/25): </a:t>
            </a:r>
            <a:r>
              <a:t>Directly empowers 1.5L+ small and marginal farmers, preventing catastrophic rural debt.</a:t>
            </a:r>
          </a:p>
          <a:p>
            <a:pPr>
              <a:spcBef>
                <a:spcPts val="800"/>
              </a:spcBef>
              <a:defRPr sz="1200">
                <a:solidFill>
                  <a:srgbClr val="CBD5E1"/>
                </a:solidFill>
              </a:defRPr>
            </a:pPr>
            <a:r>
              <a:rPr b="1">
                <a:solidFill>
                  <a:srgbClr val="F8FAFC"/>
                </a:solidFill>
              </a:rPr>
              <a:t>Prototype &amp; Feasibility (25/25): </a:t>
            </a:r>
            <a:r>
              <a:t>100% operational live dashboard running locally on Streamlit with zero mock slides.</a:t>
            </a:r>
          </a:p>
          <a:p>
            <a:pPr>
              <a:spcBef>
                <a:spcPts val="800"/>
              </a:spcBef>
              <a:defRPr sz="1200">
                <a:solidFill>
                  <a:srgbClr val="CBD5E1"/>
                </a:solidFill>
              </a:defRPr>
            </a:pPr>
            <a:r>
              <a:rPr b="1">
                <a:solidFill>
                  <a:srgbClr val="F8FAFC"/>
                </a:solidFill>
              </a:rPr>
              <a:t>Innovation &amp; Use of AI (20/20): </a:t>
            </a:r>
            <a:r>
              <a:t>Multi-Target Random Forest Classifiers + Explainable AI + Leaf Vision Fusion.</a:t>
            </a:r>
          </a:p>
          <a:p>
            <a:pPr>
              <a:spcBef>
                <a:spcPts val="800"/>
              </a:spcBef>
              <a:defRPr sz="1200">
                <a:solidFill>
                  <a:srgbClr val="CBD5E1"/>
                </a:solidFill>
              </a:defRPr>
            </a:pPr>
            <a:r>
              <a:rPr b="1">
                <a:solidFill>
                  <a:srgbClr val="F8FAFC"/>
                </a:solidFill>
              </a:rPr>
              <a:t>Scalability &amp; Adoption (15/15): </a:t>
            </a:r>
            <a:r>
              <a:t>Deploys on 190+ Village Panchayat e-Gram kiosks and 2G SMS networks.</a:t>
            </a:r>
          </a:p>
          <a:p>
            <a:pPr>
              <a:spcBef>
                <a:spcPts val="800"/>
              </a:spcBef>
              <a:defRPr sz="1200">
                <a:solidFill>
                  <a:srgbClr val="CBD5E1"/>
                </a:solidFill>
              </a:defRPr>
            </a:pPr>
            <a:r>
              <a:rPr b="1">
                <a:solidFill>
                  <a:srgbClr val="F8FAFC"/>
                </a:solidFill>
              </a:rPr>
              <a:t>Responsible AI (10/10): </a:t>
            </a:r>
            <a:r>
              <a:t>Zero Citizen PII collected, DPDP Act 2023 compliant, and taluka fairness audited.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r>
              <a:rPr b="1" sz="1100">
                <a:solidFill>
                  <a:srgbClr val="38BDF8"/>
                </a:solidFill>
              </a:rPr>
              <a:t>SPEAKER 2  |  </a:t>
            </a:r>
            <a:r>
              <a:rPr b="1" sz="1100">
                <a:solidFill>
                  <a:srgbClr val="10B981"/>
                </a:solidFill>
              </a:rPr>
              <a:t>🎯 TARGETING: PROTOTYPE &amp; FEASIBILITY (25 MARKS)</a:t>
            </a:r>
          </a:p>
          <a:p>
            <a:pPr>
              <a:defRPr b="1" sz="2400">
                <a:solidFill>
                  <a:srgbClr val="F8FAFC"/>
                </a:solidFill>
              </a:defRPr>
            </a:pPr>
            <a:r>
              <a:t>End-to-End System Architecture &amp; Engineering Pipeline</a:t>
            </a:r>
          </a:p>
          <a:p>
            <a:pPr>
              <a:defRPr sz="1300">
                <a:solidFill>
                  <a:srgbClr val="94A3B8"/>
                </a:solidFill>
              </a:defRPr>
            </a:pPr>
            <a:r>
              <a:t>From satellite meteorology to farmer feature-phone delivery</a:t>
            </a:r>
          </a:p>
        </p:txBody>
      </p:sp>
      <p:sp>
        <p:nvSpPr>
          <p:cNvPr id="4" name="Rounded Rectangle 3"/>
          <p:cNvSpPr/>
          <p:nvPr/>
        </p:nvSpPr>
        <p:spPr>
          <a:xfrm>
            <a:off x="731520" y="1645920"/>
            <a:ext cx="32918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2834640" cy="4114800"/>
          </a:xfrm>
          <a:prstGeom prst="rect">
            <a:avLst/>
          </a:prstGeom>
          <a:noFill/>
        </p:spPr>
        <p:txBody>
          <a:bodyPr wrap="square" lIns="0" tIns="0" rIns="0" bIns="0">
            <a:spAutoFit/>
          </a:bodyPr>
          <a:lstStyle/>
          <a:p>
            <a:pPr>
              <a:defRPr b="1" sz="1600">
                <a:solidFill>
                  <a:srgbClr val="38BDF8"/>
                </a:solidFill>
              </a:defRPr>
            </a:pPr>
            <a:r>
              <a:t>1. Meteorological Ingestion</a:t>
            </a:r>
          </a:p>
          <a:p>
            <a:pPr>
              <a:spcBef>
                <a:spcPts val="800"/>
              </a:spcBef>
              <a:defRPr sz="1200">
                <a:solidFill>
                  <a:srgbClr val="CBD5E1"/>
                </a:solidFill>
              </a:defRPr>
            </a:pPr>
            <a:r>
              <a:rPr b="1">
                <a:solidFill>
                  <a:srgbClr val="F8FAFC"/>
                </a:solidFill>
              </a:rPr>
              <a:t>OpenWeatherMap Live API: </a:t>
            </a:r>
            <a:r>
              <a:t>Real-time temp, humidity, precipitation, wind, and cloud cover.</a:t>
            </a:r>
          </a:p>
          <a:p>
            <a:pPr>
              <a:spcBef>
                <a:spcPts val="800"/>
              </a:spcBef>
              <a:defRPr sz="1200">
                <a:solidFill>
                  <a:srgbClr val="CBD5E1"/>
                </a:solidFill>
              </a:defRPr>
            </a:pPr>
            <a:r>
              <a:rPr b="1">
                <a:solidFill>
                  <a:srgbClr val="F8FAFC"/>
                </a:solidFill>
              </a:rPr>
              <a:t>Simulation Engine: </a:t>
            </a:r>
            <a:r>
              <a:t>5 High-fidelity Goan scenarios (Monsoon Peak, Dry Spell, Pest Bloom, Heatwave, Baseline).</a:t>
            </a:r>
          </a:p>
          <a:p>
            <a:pPr>
              <a:spcBef>
                <a:spcPts val="800"/>
              </a:spcBef>
              <a:defRPr sz="1200">
                <a:solidFill>
                  <a:srgbClr val="CBD5E1"/>
                </a:solidFill>
              </a:defRPr>
            </a:pPr>
            <a:r>
              <a:rPr b="1">
                <a:solidFill>
                  <a:srgbClr val="F8FAFC"/>
                </a:solidFill>
              </a:rPr>
              <a:t>Derived Agro-Indices: </a:t>
            </a:r>
            <a:r>
              <a:t>Computes Heat Stress Index, Waterlogging Risk, and Pest Pressure Index.</a:t>
            </a:r>
          </a:p>
        </p:txBody>
      </p:sp>
      <p:sp>
        <p:nvSpPr>
          <p:cNvPr id="6" name="Rounded Rectangle 5"/>
          <p:cNvSpPr/>
          <p:nvPr/>
        </p:nvSpPr>
        <p:spPr>
          <a:xfrm>
            <a:off x="4389120" y="1645920"/>
            <a:ext cx="32918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74519"/>
            <a:ext cx="2834640" cy="4114800"/>
          </a:xfrm>
          <a:prstGeom prst="rect">
            <a:avLst/>
          </a:prstGeom>
          <a:noFill/>
        </p:spPr>
        <p:txBody>
          <a:bodyPr wrap="square" lIns="0" tIns="0" rIns="0" bIns="0">
            <a:spAutoFit/>
          </a:bodyPr>
          <a:lstStyle/>
          <a:p>
            <a:pPr>
              <a:defRPr b="1" sz="1600">
                <a:solidFill>
                  <a:srgbClr val="10B981"/>
                </a:solidFill>
              </a:defRPr>
            </a:pPr>
            <a:r>
              <a:t>2. AI Inference &amp; XAI</a:t>
            </a:r>
          </a:p>
          <a:p>
            <a:pPr>
              <a:spcBef>
                <a:spcPts val="800"/>
              </a:spcBef>
              <a:defRPr sz="1200">
                <a:solidFill>
                  <a:srgbClr val="CBD5E1"/>
                </a:solidFill>
              </a:defRPr>
            </a:pPr>
            <a:r>
              <a:rPr b="1">
                <a:solidFill>
                  <a:srgbClr val="F8FAFC"/>
                </a:solidFill>
              </a:rPr>
              <a:t>StandardScaler Pipeline: </a:t>
            </a:r>
            <a:r>
              <a:t>Normalizes 11 numerical metrics with one-hot categorical taluka/crop encodings.</a:t>
            </a:r>
          </a:p>
          <a:p>
            <a:pPr>
              <a:spcBef>
                <a:spcPts val="800"/>
              </a:spcBef>
              <a:defRPr sz="1200">
                <a:solidFill>
                  <a:srgbClr val="CBD5E1"/>
                </a:solidFill>
              </a:defRPr>
            </a:pPr>
            <a:r>
              <a:rPr b="1">
                <a:solidFill>
                  <a:srgbClr val="F8FAFC"/>
                </a:solidFill>
              </a:rPr>
              <a:t>Primary Random Forest: </a:t>
            </a:r>
            <a:r>
              <a:t>Predicts Overall Risk: Normal, Watch, Alert, Critical (91.86% Accuracy).</a:t>
            </a:r>
          </a:p>
          <a:p>
            <a:pPr>
              <a:spcBef>
                <a:spcPts val="800"/>
              </a:spcBef>
              <a:defRPr sz="1200">
                <a:solidFill>
                  <a:srgbClr val="CBD5E1"/>
                </a:solidFill>
              </a:defRPr>
            </a:pPr>
            <a:r>
              <a:rPr b="1">
                <a:solidFill>
                  <a:srgbClr val="F8FAFC"/>
                </a:solidFill>
              </a:rPr>
              <a:t>6 Binary Hazard Models: </a:t>
            </a:r>
            <a:r>
              <a:t>Isolates Drought, Waterlog, Pest, Disease, Heat, and Soil pH.</a:t>
            </a:r>
          </a:p>
          <a:p>
            <a:pPr>
              <a:spcBef>
                <a:spcPts val="800"/>
              </a:spcBef>
              <a:defRPr sz="1200">
                <a:solidFill>
                  <a:srgbClr val="CBD5E1"/>
                </a:solidFill>
              </a:defRPr>
            </a:pPr>
            <a:r>
              <a:rPr b="1">
                <a:solidFill>
                  <a:srgbClr val="F8FAFC"/>
                </a:solidFill>
              </a:rPr>
              <a:t>Explainable AI (XAI): </a:t>
            </a:r>
            <a:r>
              <a:t>Decomposes Gini feature drivers to explain why stress was flagged.</a:t>
            </a:r>
          </a:p>
        </p:txBody>
      </p:sp>
      <p:sp>
        <p:nvSpPr>
          <p:cNvPr id="8" name="Rounded Rectangle 7"/>
          <p:cNvSpPr/>
          <p:nvPr/>
        </p:nvSpPr>
        <p:spPr>
          <a:xfrm>
            <a:off x="8046720" y="1645920"/>
            <a:ext cx="338328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5320" y="1874519"/>
            <a:ext cx="2926080" cy="4114800"/>
          </a:xfrm>
          <a:prstGeom prst="rect">
            <a:avLst/>
          </a:prstGeom>
          <a:noFill/>
        </p:spPr>
        <p:txBody>
          <a:bodyPr wrap="square" lIns="0" tIns="0" rIns="0" bIns="0">
            <a:spAutoFit/>
          </a:bodyPr>
          <a:lstStyle/>
          <a:p>
            <a:pPr>
              <a:defRPr b="1" sz="1600">
                <a:solidFill>
                  <a:srgbClr val="F59E0B"/>
                </a:solidFill>
              </a:defRPr>
            </a:pPr>
            <a:r>
              <a:t>3. Multi-Channel Delivery</a:t>
            </a:r>
          </a:p>
          <a:p>
            <a:pPr>
              <a:spcBef>
                <a:spcPts val="800"/>
              </a:spcBef>
              <a:defRPr sz="1200">
                <a:solidFill>
                  <a:srgbClr val="CBD5E1"/>
                </a:solidFill>
              </a:defRPr>
            </a:pPr>
            <a:r>
              <a:rPr b="1">
                <a:solidFill>
                  <a:srgbClr val="F8FAFC"/>
                </a:solidFill>
              </a:rPr>
              <a:t>Streamlit Command Center: </a:t>
            </a:r>
            <a:r>
              <a:t>8 interactive glassmorphic tabs with Folium GIS maps and Plotly graphs.</a:t>
            </a:r>
          </a:p>
          <a:p>
            <a:pPr>
              <a:spcBef>
                <a:spcPts val="800"/>
              </a:spcBef>
              <a:defRPr sz="1200">
                <a:solidFill>
                  <a:srgbClr val="CBD5E1"/>
                </a:solidFill>
              </a:defRPr>
            </a:pPr>
            <a:r>
              <a:rPr b="1">
                <a:solidFill>
                  <a:srgbClr val="F8FAFC"/>
                </a:solidFill>
              </a:rPr>
              <a:t>Kisan Health Card: </a:t>
            </a:r>
            <a:r>
              <a:t>Official printable PDF certificate with serial ID and verification QR.</a:t>
            </a:r>
          </a:p>
          <a:p>
            <a:pPr>
              <a:spcBef>
                <a:spcPts val="800"/>
              </a:spcBef>
              <a:defRPr sz="1200">
                <a:solidFill>
                  <a:srgbClr val="CBD5E1"/>
                </a:solidFill>
              </a:defRPr>
            </a:pPr>
            <a:r>
              <a:rPr b="1">
                <a:solidFill>
                  <a:srgbClr val="F8FAFC"/>
                </a:solidFill>
              </a:rPr>
              <a:t>2G SMS Dispatcher: </a:t>
            </a:r>
            <a:r>
              <a:t>Concise SMS alerts via Twilio and WhatsApp group deep-links.</a:t>
            </a:r>
          </a:p>
          <a:p>
            <a:pPr>
              <a:spcBef>
                <a:spcPts val="800"/>
              </a:spcBef>
              <a:defRPr sz="1200">
                <a:solidFill>
                  <a:srgbClr val="CBD5E1"/>
                </a:solidFill>
              </a:defRPr>
            </a:pPr>
            <a:r>
              <a:rPr b="1">
                <a:solidFill>
                  <a:srgbClr val="F8FAFC"/>
                </a:solidFill>
              </a:rPr>
              <a:t>CSV Audit Trail: </a:t>
            </a:r>
            <a:r>
              <a:t>Immutable dispatch history for government accountability.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r>
              <a:rPr b="1" sz="1100">
                <a:solidFill>
                  <a:srgbClr val="38BDF8"/>
                </a:solidFill>
              </a:rPr>
              <a:t>SPEAKER 2  |  </a:t>
            </a:r>
            <a:r>
              <a:rPr b="1" sz="1100">
                <a:solidFill>
                  <a:srgbClr val="10B981"/>
                </a:solidFill>
              </a:rPr>
              <a:t>🎯 TARGETING: PROTOTYPE &amp; FEASIBILITY (25 MARKS)</a:t>
            </a:r>
          </a:p>
          <a:p>
            <a:pPr>
              <a:defRPr b="1" sz="2400">
                <a:solidFill>
                  <a:srgbClr val="F8FAFC"/>
                </a:solidFill>
              </a:defRPr>
            </a:pPr>
            <a:r>
              <a:t>Tab 1: Real-Time Goa Command Center &amp; Geospatial GIS</a:t>
            </a:r>
          </a:p>
          <a:p>
            <a:pPr>
              <a:defRPr sz="1300">
                <a:solidFill>
                  <a:srgbClr val="94A3B8"/>
                </a:solidFill>
              </a:defRPr>
            </a:pPr>
            <a:r>
              <a:t>Live state-wide monitoring across all 12 North &amp; South Goa Talukas</a:t>
            </a:r>
          </a:p>
        </p:txBody>
      </p:sp>
      <p:sp>
        <p:nvSpPr>
          <p:cNvPr id="4" name="Rounded Rectangle 3"/>
          <p:cNvSpPr/>
          <p:nvPr/>
        </p:nvSpPr>
        <p:spPr>
          <a:xfrm>
            <a:off x="731520" y="1645920"/>
            <a:ext cx="51206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4663440" cy="4114800"/>
          </a:xfrm>
          <a:prstGeom prst="rect">
            <a:avLst/>
          </a:prstGeom>
          <a:noFill/>
        </p:spPr>
        <p:txBody>
          <a:bodyPr wrap="square" lIns="0" tIns="0" rIns="0" bIns="0">
            <a:spAutoFit/>
          </a:bodyPr>
          <a:lstStyle/>
          <a:p>
            <a:pPr>
              <a:defRPr b="1" sz="1600">
                <a:solidFill>
                  <a:srgbClr val="10B981"/>
                </a:solidFill>
              </a:defRPr>
            </a:pPr>
            <a:r>
              <a:t>🗺️ Geospatial Intelligence (Folium Map)</a:t>
            </a:r>
          </a:p>
          <a:p>
            <a:pPr>
              <a:spcBef>
                <a:spcPts val="800"/>
              </a:spcBef>
              <a:defRPr sz="1200">
                <a:solidFill>
                  <a:srgbClr val="CBD5E1"/>
                </a:solidFill>
              </a:defRPr>
            </a:pPr>
            <a:r>
              <a:rPr b="1">
                <a:solidFill>
                  <a:srgbClr val="F8FAFC"/>
                </a:solidFill>
              </a:rPr>
              <a:t>12 Talukas Monitored Live: </a:t>
            </a:r>
            <a:r>
              <a:t>Tiswadi, Salcete, Bardez, Ponda, Bicholim, Sattari, Canacona, Quepem, Sanguem, Pernem, Mormugao, Dharbandora.</a:t>
            </a:r>
          </a:p>
          <a:p>
            <a:pPr>
              <a:spcBef>
                <a:spcPts val="800"/>
              </a:spcBef>
              <a:defRPr sz="1200">
                <a:solidFill>
                  <a:srgbClr val="CBD5E1"/>
                </a:solidFill>
              </a:defRPr>
            </a:pPr>
            <a:r>
              <a:rPr b="1">
                <a:solidFill>
                  <a:srgbClr val="F8FAFC"/>
                </a:solidFill>
              </a:rPr>
              <a:t>Dynamic Color-Coded Markers: </a:t>
            </a:r>
            <a:r>
              <a:t>Green (Normal), CadetBlue (Watch), Orange (Alert), Red (Critical Hazard).</a:t>
            </a:r>
          </a:p>
          <a:p>
            <a:pPr>
              <a:spcBef>
                <a:spcPts val="800"/>
              </a:spcBef>
              <a:defRPr sz="1200">
                <a:solidFill>
                  <a:srgbClr val="CBD5E1"/>
                </a:solidFill>
              </a:defRPr>
            </a:pPr>
            <a:r>
              <a:rPr b="1">
                <a:solidFill>
                  <a:srgbClr val="F8FAFC"/>
                </a:solidFill>
              </a:rPr>
              <a:t>Microclimate Radius Buffers: </a:t>
            </a:r>
            <a:r>
              <a:t>4.5 km buffer zones visualizing soil moisture and precipitation concentration.</a:t>
            </a:r>
          </a:p>
          <a:p>
            <a:pPr>
              <a:spcBef>
                <a:spcPts val="800"/>
              </a:spcBef>
              <a:defRPr sz="1200">
                <a:solidFill>
                  <a:srgbClr val="CBD5E1"/>
                </a:solidFill>
              </a:defRPr>
            </a:pPr>
            <a:r>
              <a:rPr b="1">
                <a:solidFill>
                  <a:srgbClr val="F8FAFC"/>
                </a:solidFill>
              </a:rPr>
              <a:t>Dual Tile Views: </a:t>
            </a:r>
            <a:r>
              <a:t>Standard terrain mapping + Esri Satellite imagery showing actual agricultural fields and forest canopies.</a:t>
            </a:r>
          </a:p>
        </p:txBody>
      </p:sp>
      <p:sp>
        <p:nvSpPr>
          <p:cNvPr id="6" name="Rounded Rectangle 5"/>
          <p:cNvSpPr/>
          <p:nvPr/>
        </p:nvSpPr>
        <p:spPr>
          <a:xfrm>
            <a:off x="6217920" y="1645920"/>
            <a:ext cx="521208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74519"/>
            <a:ext cx="4754880" cy="4114800"/>
          </a:xfrm>
          <a:prstGeom prst="rect">
            <a:avLst/>
          </a:prstGeom>
          <a:noFill/>
        </p:spPr>
        <p:txBody>
          <a:bodyPr wrap="square" lIns="0" tIns="0" rIns="0" bIns="0">
            <a:spAutoFit/>
          </a:bodyPr>
          <a:lstStyle/>
          <a:p>
            <a:pPr>
              <a:defRPr b="1" sz="1600">
                <a:solidFill>
                  <a:srgbClr val="38BDF8"/>
                </a:solidFill>
              </a:defRPr>
            </a:pPr>
            <a:r>
              <a:t>📋 Operational Command Features</a:t>
            </a:r>
          </a:p>
          <a:p>
            <a:pPr>
              <a:spcBef>
                <a:spcPts val="800"/>
              </a:spcBef>
              <a:defRPr sz="1200">
                <a:solidFill>
                  <a:srgbClr val="CBD5E1"/>
                </a:solidFill>
              </a:defRPr>
            </a:pPr>
            <a:r>
              <a:rPr b="1">
                <a:solidFill>
                  <a:srgbClr val="F8FAFC"/>
                </a:solidFill>
              </a:rPr>
              <a:t>State Executive KPIs: </a:t>
            </a:r>
            <a:r>
              <a:t>Instant status counter: 12/12 Talukas Active, Active Alert Count, State Average Soil Moisture, 1.5L+ Target Farm Families.</a:t>
            </a:r>
          </a:p>
          <a:p>
            <a:pPr>
              <a:spcBef>
                <a:spcPts val="800"/>
              </a:spcBef>
              <a:defRPr sz="1200">
                <a:solidFill>
                  <a:srgbClr val="CBD5E1"/>
                </a:solidFill>
              </a:defRPr>
            </a:pPr>
            <a:r>
              <a:rPr b="1">
                <a:solidFill>
                  <a:srgbClr val="F8FAFC"/>
                </a:solidFill>
              </a:rPr>
              <a:t>Taluka Vulnerability Watchlist: </a:t>
            </a:r>
            <a:r>
              <a:t>One-click inspection cards breaking down primary crops, ambient temp, soil pH, and immediate ICAR action plan.</a:t>
            </a:r>
          </a:p>
          <a:p>
            <a:pPr>
              <a:spcBef>
                <a:spcPts val="800"/>
              </a:spcBef>
              <a:defRPr sz="1200">
                <a:solidFill>
                  <a:srgbClr val="CBD5E1"/>
                </a:solidFill>
              </a:defRPr>
            </a:pPr>
            <a:r>
              <a:rPr b="1">
                <a:solidFill>
                  <a:srgbClr val="F8FAFC"/>
                </a:solidFill>
              </a:rPr>
              <a:t>Instant Language Toggle: </a:t>
            </a:r>
            <a:r>
              <a:t>Instant switch between English, Konkani (गोंयची राजभास in Devanagari), and Hindi for complete local administrative ownership.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r>
              <a:rPr b="1" sz="1100">
                <a:solidFill>
                  <a:srgbClr val="38BDF8"/>
                </a:solidFill>
              </a:rPr>
              <a:t>SPEAKER 2  |  </a:t>
            </a:r>
            <a:r>
              <a:rPr b="1" sz="1100">
                <a:solidFill>
                  <a:srgbClr val="10B981"/>
                </a:solidFill>
              </a:rPr>
              <a:t>🎯 TARGETING: PUBLIC-SERVICE &amp; FEASIBILITY (25 MARKS)</a:t>
            </a:r>
          </a:p>
          <a:p>
            <a:pPr>
              <a:defRPr b="1" sz="2400">
                <a:solidFill>
                  <a:srgbClr val="F8FAFC"/>
                </a:solidFill>
              </a:defRPr>
            </a:pPr>
            <a:r>
              <a:t>Tab 4: Official Kisan Crop Health &amp; Vulnerability Card</a:t>
            </a:r>
          </a:p>
          <a:p>
            <a:pPr>
              <a:defRPr sz="1300">
                <a:solidFill>
                  <a:srgbClr val="94A3B8"/>
                </a:solidFill>
              </a:defRPr>
            </a:pPr>
            <a:r>
              <a:t>A certified, printable agro-meteorological advisory certificate for Goan farmers</a:t>
            </a:r>
          </a:p>
        </p:txBody>
      </p:sp>
      <p:sp>
        <p:nvSpPr>
          <p:cNvPr id="4" name="Rounded Rectangle 3"/>
          <p:cNvSpPr/>
          <p:nvPr/>
        </p:nvSpPr>
        <p:spPr>
          <a:xfrm>
            <a:off x="731520" y="1645920"/>
            <a:ext cx="51206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4663440" cy="4114800"/>
          </a:xfrm>
          <a:prstGeom prst="rect">
            <a:avLst/>
          </a:prstGeom>
          <a:noFill/>
        </p:spPr>
        <p:txBody>
          <a:bodyPr wrap="square" lIns="0" tIns="0" rIns="0" bIns="0">
            <a:spAutoFit/>
          </a:bodyPr>
          <a:lstStyle/>
          <a:p>
            <a:pPr>
              <a:defRPr b="1" sz="1600">
                <a:solidFill>
                  <a:srgbClr val="F59E0B"/>
                </a:solidFill>
              </a:defRPr>
            </a:pPr>
            <a:r>
              <a:t>📄 The Digital-to-Physical Bridge</a:t>
            </a:r>
          </a:p>
          <a:p>
            <a:pPr>
              <a:spcBef>
                <a:spcPts val="800"/>
              </a:spcBef>
              <a:defRPr sz="1200">
                <a:solidFill>
                  <a:srgbClr val="CBD5E1"/>
                </a:solidFill>
              </a:defRPr>
            </a:pPr>
            <a:r>
              <a:rPr b="1">
                <a:solidFill>
                  <a:srgbClr val="F8FAFC"/>
                </a:solidFill>
              </a:rPr>
              <a:t>Institutional Credibility: </a:t>
            </a:r>
            <a:r>
              <a:t>Branded under Directorate of Agriculture, Govt. of Goa, in technical collaboration with ICAR-CCARI (Old Goa).</a:t>
            </a:r>
          </a:p>
          <a:p>
            <a:pPr>
              <a:spcBef>
                <a:spcPts val="800"/>
              </a:spcBef>
              <a:defRPr sz="1200">
                <a:solidFill>
                  <a:srgbClr val="CBD5E1"/>
                </a:solidFill>
              </a:defRPr>
            </a:pPr>
            <a:r>
              <a:rPr b="1">
                <a:solidFill>
                  <a:srgbClr val="F8FAFC"/>
                </a:solidFill>
              </a:rPr>
              <a:t>Unique Cryptographic Serial ID: </a:t>
            </a:r>
            <a:r>
              <a:t>Auto-generated verification serial (e.g. GOA-KISAN-2026-PON-4819) with tamper-resistant verification hash.</a:t>
            </a:r>
          </a:p>
          <a:p>
            <a:pPr>
              <a:spcBef>
                <a:spcPts val="800"/>
              </a:spcBef>
              <a:defRPr sz="1200">
                <a:solidFill>
                  <a:srgbClr val="CBD5E1"/>
                </a:solidFill>
              </a:defRPr>
            </a:pPr>
            <a:r>
              <a:rPr b="1">
                <a:solidFill>
                  <a:srgbClr val="F8FAFC"/>
                </a:solidFill>
              </a:rPr>
              <a:t>Farmer &amp; Land Profile: </a:t>
            </a:r>
            <a:r>
              <a:t>Records farmer name, survey/parcel number, and Goan agro-ecological land types (Khazan, Morod, Keri).</a:t>
            </a:r>
          </a:p>
          <a:p>
            <a:pPr>
              <a:spcBef>
                <a:spcPts val="800"/>
              </a:spcBef>
              <a:defRPr sz="1200">
                <a:solidFill>
                  <a:srgbClr val="CBD5E1"/>
                </a:solidFill>
              </a:defRPr>
            </a:pPr>
            <a:r>
              <a:rPr b="1">
                <a:solidFill>
                  <a:srgbClr val="F8FAFC"/>
                </a:solidFill>
              </a:rPr>
              <a:t>Printable PDF Certificate: </a:t>
            </a:r>
            <a:r>
              <a:t>One-click native print engine (window.print()) formatted for village panchayat paper hand-outs.</a:t>
            </a:r>
          </a:p>
        </p:txBody>
      </p:sp>
      <p:sp>
        <p:nvSpPr>
          <p:cNvPr id="6" name="Rounded Rectangle 5"/>
          <p:cNvSpPr/>
          <p:nvPr/>
        </p:nvSpPr>
        <p:spPr>
          <a:xfrm>
            <a:off x="6217920" y="1645920"/>
            <a:ext cx="521208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74519"/>
            <a:ext cx="4754880" cy="4114800"/>
          </a:xfrm>
          <a:prstGeom prst="rect">
            <a:avLst/>
          </a:prstGeom>
          <a:noFill/>
        </p:spPr>
        <p:txBody>
          <a:bodyPr wrap="square" lIns="0" tIns="0" rIns="0" bIns="0">
            <a:spAutoFit/>
          </a:bodyPr>
          <a:lstStyle/>
          <a:p>
            <a:pPr>
              <a:defRPr b="1" sz="1600">
                <a:solidFill>
                  <a:srgbClr val="10B981"/>
                </a:solidFill>
              </a:defRPr>
            </a:pPr>
            <a:r>
              <a:t>🏛️ Direct Government Utility</a:t>
            </a:r>
          </a:p>
          <a:p>
            <a:pPr>
              <a:spcBef>
                <a:spcPts val="800"/>
              </a:spcBef>
              <a:defRPr sz="1200">
                <a:solidFill>
                  <a:srgbClr val="CBD5E1"/>
                </a:solidFill>
              </a:defRPr>
            </a:pPr>
            <a:r>
              <a:rPr b="1">
                <a:solidFill>
                  <a:srgbClr val="F8FAFC"/>
                </a:solidFill>
              </a:rPr>
              <a:t>PMFBY Crop Insurance Claims: </a:t>
            </a:r>
            <a:r>
              <a:t>Provides undeniable, timestamped proof of weather anomalies and crop stress when filing for insurance after storms.</a:t>
            </a:r>
          </a:p>
          <a:p>
            <a:pPr>
              <a:spcBef>
                <a:spcPts val="800"/>
              </a:spcBef>
              <a:defRPr sz="1200">
                <a:solidFill>
                  <a:srgbClr val="CBD5E1"/>
                </a:solidFill>
              </a:defRPr>
            </a:pPr>
            <a:r>
              <a:rPr b="1">
                <a:solidFill>
                  <a:srgbClr val="F8FAFC"/>
                </a:solidFill>
              </a:rPr>
              <a:t>ZAO Subsidy Verification: </a:t>
            </a:r>
            <a:r>
              <a:t>Zonal Agricultural Officers can instantly verify soil acidity (pH 5.2) to approve subsidized agricultural lime distribution.</a:t>
            </a:r>
          </a:p>
          <a:p>
            <a:pPr>
              <a:spcBef>
                <a:spcPts val="800"/>
              </a:spcBef>
              <a:defRPr sz="1200">
                <a:solidFill>
                  <a:srgbClr val="CBD5E1"/>
                </a:solidFill>
              </a:defRPr>
            </a:pPr>
            <a:r>
              <a:rPr b="1">
                <a:solidFill>
                  <a:srgbClr val="F8FAFC"/>
                </a:solidFill>
              </a:rPr>
              <a:t>AI Health Grading System: </a:t>
            </a:r>
            <a:r>
              <a:t>Grades crops from Grade A (Optimal Health) to Grade D (Critical Stress Intervention), paired with actionable ICAR treatments.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r>
              <a:rPr b="1" sz="1100">
                <a:solidFill>
                  <a:srgbClr val="38BDF8"/>
                </a:solidFill>
              </a:rPr>
              <a:t>SPEAKER 3  |  </a:t>
            </a:r>
            <a:r>
              <a:rPr b="1" sz="1100">
                <a:solidFill>
                  <a:srgbClr val="10B981"/>
                </a:solidFill>
              </a:rPr>
              <a:t>🎯 TARGETING: INNOVATION &amp; USE OF AI (20 MARKS)</a:t>
            </a:r>
          </a:p>
          <a:p>
            <a:pPr>
              <a:defRPr b="1" sz="2400">
                <a:solidFill>
                  <a:srgbClr val="F8FAFC"/>
                </a:solidFill>
              </a:defRPr>
            </a:pPr>
            <a:r>
              <a:t>The AI Engine: Multi-Target Random Forest Architecture</a:t>
            </a:r>
          </a:p>
          <a:p>
            <a:pPr>
              <a:defRPr sz="1300">
                <a:solidFill>
                  <a:srgbClr val="94A3B8"/>
                </a:solidFill>
              </a:defRPr>
            </a:pPr>
            <a:r>
              <a:t>Why machine learning outperforms rigid IF-THEN rules in Goan agriculture</a:t>
            </a:r>
          </a:p>
        </p:txBody>
      </p:sp>
      <p:sp>
        <p:nvSpPr>
          <p:cNvPr id="4" name="Rounded Rectangle 3"/>
          <p:cNvSpPr/>
          <p:nvPr/>
        </p:nvSpPr>
        <p:spPr>
          <a:xfrm>
            <a:off x="731520" y="1645920"/>
            <a:ext cx="51206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4663440" cy="4114800"/>
          </a:xfrm>
          <a:prstGeom prst="rect">
            <a:avLst/>
          </a:prstGeom>
          <a:noFill/>
        </p:spPr>
        <p:txBody>
          <a:bodyPr wrap="square" lIns="0" tIns="0" rIns="0" bIns="0">
            <a:spAutoFit/>
          </a:bodyPr>
          <a:lstStyle/>
          <a:p>
            <a:pPr>
              <a:defRPr b="1" sz="1600">
                <a:solidFill>
                  <a:srgbClr val="38BDF8"/>
                </a:solidFill>
              </a:defRPr>
            </a:pPr>
            <a:r>
              <a:t>🧠 Why Random Forests for Agriculture?</a:t>
            </a:r>
          </a:p>
          <a:p>
            <a:pPr>
              <a:spcBef>
                <a:spcPts val="800"/>
              </a:spcBef>
              <a:defRPr sz="1200">
                <a:solidFill>
                  <a:srgbClr val="CBD5E1"/>
                </a:solidFill>
              </a:defRPr>
            </a:pPr>
            <a:r>
              <a:rPr b="1">
                <a:solidFill>
                  <a:srgbClr val="F8FAFC"/>
                </a:solidFill>
              </a:rPr>
              <a:t>Non-Linear Interactions: </a:t>
            </a:r>
            <a:r>
              <a:t>A single rule like 'Rain &gt; 80mm = Waterlog' fails. 80mm in sloped Sattari after 10 dry days is beneficial; but 50mm in low-lying Salcete with 95% humidity causes blast and root rot.</a:t>
            </a:r>
          </a:p>
          <a:p>
            <a:pPr>
              <a:spcBef>
                <a:spcPts val="800"/>
              </a:spcBef>
              <a:defRPr sz="1200">
                <a:solidFill>
                  <a:srgbClr val="CBD5E1"/>
                </a:solidFill>
              </a:defRPr>
            </a:pPr>
            <a:r>
              <a:rPr b="1">
                <a:solidFill>
                  <a:srgbClr val="F8FAFC"/>
                </a:solidFill>
              </a:rPr>
              <a:t>Multi-Dimensional Synthesis: </a:t>
            </a:r>
            <a:r>
              <a:t>Simultaneously evaluates 14 environmental features without overfitting.</a:t>
            </a:r>
          </a:p>
          <a:p>
            <a:pPr>
              <a:spcBef>
                <a:spcPts val="800"/>
              </a:spcBef>
              <a:defRPr sz="1200">
                <a:solidFill>
                  <a:srgbClr val="CBD5E1"/>
                </a:solidFill>
              </a:defRPr>
            </a:pPr>
            <a:r>
              <a:rPr b="1">
                <a:solidFill>
                  <a:srgbClr val="F8FAFC"/>
                </a:solidFill>
              </a:rPr>
              <a:t>Synthetic Goan Dataset: </a:t>
            </a:r>
            <a:r>
              <a:t>3,500 samples calibrated to 5 years of Goa seasonal weather patterns and lateritic soil chemistry.</a:t>
            </a:r>
          </a:p>
        </p:txBody>
      </p:sp>
      <p:sp>
        <p:nvSpPr>
          <p:cNvPr id="6" name="Rounded Rectangle 5"/>
          <p:cNvSpPr/>
          <p:nvPr/>
        </p:nvSpPr>
        <p:spPr>
          <a:xfrm>
            <a:off x="6217920" y="1645920"/>
            <a:ext cx="5212080" cy="4572000"/>
          </a:xfrm>
          <a:prstGeom prst="roundRect">
            <a:avLst/>
          </a:prstGeom>
          <a:solidFill>
            <a:srgbClr val="1621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74519"/>
            <a:ext cx="4754880" cy="4114800"/>
          </a:xfrm>
          <a:prstGeom prst="rect">
            <a:avLst/>
          </a:prstGeom>
          <a:noFill/>
        </p:spPr>
        <p:txBody>
          <a:bodyPr wrap="square" lIns="0" tIns="0" rIns="0" bIns="0">
            <a:spAutoFit/>
          </a:bodyPr>
          <a:lstStyle/>
          <a:p>
            <a:pPr>
              <a:defRPr b="1" sz="1600">
                <a:solidFill>
                  <a:srgbClr val="10B981"/>
                </a:solidFill>
              </a:defRPr>
            </a:pPr>
            <a:r>
              <a:t>📊 Verified Model Benchmark Metrics</a:t>
            </a:r>
          </a:p>
          <a:p>
            <a:pPr>
              <a:spcBef>
                <a:spcPts val="800"/>
              </a:spcBef>
              <a:defRPr sz="1200">
                <a:solidFill>
                  <a:srgbClr val="CBD5E1"/>
                </a:solidFill>
              </a:defRPr>
            </a:pPr>
            <a:r>
              <a:rPr b="1">
                <a:solidFill>
                  <a:srgbClr val="F8FAFC"/>
                </a:solidFill>
              </a:rPr>
              <a:t>Primary Model Accuracy: </a:t>
            </a:r>
            <a:r>
              <a:t>91.86% Overall Accuracy | 96.38% Precision | 94.14% ROC-AUC</a:t>
            </a:r>
          </a:p>
          <a:p>
            <a:pPr>
              <a:spcBef>
                <a:spcPts val="800"/>
              </a:spcBef>
              <a:defRPr sz="1200">
                <a:solidFill>
                  <a:srgbClr val="CBD5E1"/>
                </a:solidFill>
              </a:defRPr>
            </a:pPr>
            <a:r>
              <a:rPr b="1">
                <a:solidFill>
                  <a:srgbClr val="F8FAFC"/>
                </a:solidFill>
              </a:rPr>
              <a:t>Drought Stress Model: </a:t>
            </a:r>
            <a:r>
              <a:t>97.54% Accuracy (detects dry spells &amp; root moisture deficits)</a:t>
            </a:r>
          </a:p>
          <a:p>
            <a:pPr>
              <a:spcBef>
                <a:spcPts val="800"/>
              </a:spcBef>
              <a:defRPr sz="1200">
                <a:solidFill>
                  <a:srgbClr val="CBD5E1"/>
                </a:solidFill>
              </a:defRPr>
            </a:pPr>
            <a:r>
              <a:rPr b="1">
                <a:solidFill>
                  <a:srgbClr val="F8FAFC"/>
                </a:solidFill>
              </a:rPr>
              <a:t>Waterlog Stress Model: </a:t>
            </a:r>
            <a:r>
              <a:t>99.46% Accuracy (flags soil saturation &amp; poor drainage)</a:t>
            </a:r>
          </a:p>
          <a:p>
            <a:pPr>
              <a:spcBef>
                <a:spcPts val="800"/>
              </a:spcBef>
              <a:defRPr sz="1200">
                <a:solidFill>
                  <a:srgbClr val="CBD5E1"/>
                </a:solidFill>
              </a:defRPr>
            </a:pPr>
            <a:r>
              <a:rPr b="1">
                <a:solidFill>
                  <a:srgbClr val="F8FAFC"/>
                </a:solidFill>
              </a:rPr>
              <a:t>Pest Infestation Model: </a:t>
            </a:r>
            <a:r>
              <a:t>97.94% Accuracy (predicts stem borer &amp; tea mosquito bug)</a:t>
            </a:r>
          </a:p>
          <a:p>
            <a:pPr>
              <a:spcBef>
                <a:spcPts val="800"/>
              </a:spcBef>
              <a:defRPr sz="1200">
                <a:solidFill>
                  <a:srgbClr val="CBD5E1"/>
                </a:solidFill>
              </a:defRPr>
            </a:pPr>
            <a:r>
              <a:rPr b="1">
                <a:solidFill>
                  <a:srgbClr val="F8FAFC"/>
                </a:solidFill>
              </a:rPr>
              <a:t>Fungal Disease Model: </a:t>
            </a:r>
            <a:r>
              <a:t>98.94% Accuracy (calibrated to blast &amp; bud rot triggers)</a:t>
            </a:r>
          </a:p>
          <a:p>
            <a:pPr>
              <a:spcBef>
                <a:spcPts val="800"/>
              </a:spcBef>
              <a:defRPr sz="1200">
                <a:solidFill>
                  <a:srgbClr val="CBD5E1"/>
                </a:solidFill>
              </a:defRPr>
            </a:pPr>
            <a:r>
              <a:rPr b="1">
                <a:solidFill>
                  <a:srgbClr val="F8FAFC"/>
                </a:solidFill>
              </a:rPr>
              <a:t>Thermal Heat Stress Model: </a:t>
            </a:r>
            <a:r>
              <a:t>99.54% Accuracy | Soil Nutrient/pH Model: 99.80% Accuracy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r>
              <a:rPr b="1" sz="1100">
                <a:solidFill>
                  <a:srgbClr val="38BDF8"/>
                </a:solidFill>
              </a:rPr>
              <a:t>SPEAKER 3  |  </a:t>
            </a:r>
            <a:r>
              <a:rPr b="1" sz="1100">
                <a:solidFill>
                  <a:srgbClr val="10B981"/>
                </a:solidFill>
              </a:rPr>
              <a:t>🎯 TARGETING: INNOVATION &amp; USE OF AI (20 MARKS)</a:t>
            </a:r>
          </a:p>
          <a:p>
            <a:pPr>
              <a:defRPr b="1" sz="2400">
                <a:solidFill>
                  <a:srgbClr val="F8FAFC"/>
                </a:solidFill>
              </a:defRPr>
            </a:pPr>
            <a:r>
              <a:t>Tab 2: What-If Diagnostic Sandbox &amp; Explainable AI (XAI)</a:t>
            </a:r>
          </a:p>
          <a:p>
            <a:pPr>
              <a:defRPr sz="1300">
                <a:solidFill>
                  <a:srgbClr val="94A3B8"/>
                </a:solidFill>
              </a:defRPr>
            </a:pPr>
            <a:r>
              <a:t>Opening the black box: Decomposing exact meteorological drivers of crop stress</a:t>
            </a:r>
          </a:p>
        </p:txBody>
      </p:sp>
      <p:sp>
        <p:nvSpPr>
          <p:cNvPr id="4" name="Rounded Rectangle 3"/>
          <p:cNvSpPr/>
          <p:nvPr/>
        </p:nvSpPr>
        <p:spPr>
          <a:xfrm>
            <a:off x="731520" y="1645920"/>
            <a:ext cx="51206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4663440" cy="4114800"/>
          </a:xfrm>
          <a:prstGeom prst="rect">
            <a:avLst/>
          </a:prstGeom>
          <a:noFill/>
        </p:spPr>
        <p:txBody>
          <a:bodyPr wrap="square" lIns="0" tIns="0" rIns="0" bIns="0">
            <a:spAutoFit/>
          </a:bodyPr>
          <a:lstStyle/>
          <a:p>
            <a:pPr>
              <a:defRPr b="1" sz="1600">
                <a:solidFill>
                  <a:srgbClr val="10B981"/>
                </a:solidFill>
              </a:defRPr>
            </a:pPr>
            <a:r>
              <a:t>🧪 The 'What-If' Simulation Sandbox</a:t>
            </a:r>
          </a:p>
          <a:p>
            <a:pPr>
              <a:spcBef>
                <a:spcPts val="800"/>
              </a:spcBef>
              <a:defRPr sz="1200">
                <a:solidFill>
                  <a:srgbClr val="CBD5E1"/>
                </a:solidFill>
              </a:defRPr>
            </a:pPr>
            <a:r>
              <a:rPr b="1">
                <a:solidFill>
                  <a:srgbClr val="F8FAFC"/>
                </a:solidFill>
              </a:rPr>
              <a:t>Interactive Stress Injection: </a:t>
            </a:r>
            <a:r>
              <a:t>Sliders for 24h rainfall (0-350mm), humidity (25-100%), dry/wet day streaks, soil moisture, and soil pH.</a:t>
            </a:r>
          </a:p>
          <a:p>
            <a:pPr>
              <a:spcBef>
                <a:spcPts val="800"/>
              </a:spcBef>
              <a:defRPr sz="1200">
                <a:solidFill>
                  <a:srgbClr val="CBD5E1"/>
                </a:solidFill>
              </a:defRPr>
            </a:pPr>
            <a:r>
              <a:rPr b="1">
                <a:solidFill>
                  <a:srgbClr val="F8FAFC"/>
                </a:solidFill>
              </a:rPr>
              <a:t>No Mid-Input Lag (Form Submissions): </a:t>
            </a:r>
            <a:r>
              <a:t>Features dedicated confirm buttons so users tweak values seamlessly without annoying reloads.</a:t>
            </a:r>
          </a:p>
          <a:p>
            <a:pPr>
              <a:spcBef>
                <a:spcPts val="800"/>
              </a:spcBef>
              <a:defRPr sz="1200">
                <a:solidFill>
                  <a:srgbClr val="CBD5E1"/>
                </a:solidFill>
              </a:defRPr>
            </a:pPr>
            <a:r>
              <a:rPr b="1">
                <a:solidFill>
                  <a:srgbClr val="F8FAFC"/>
                </a:solidFill>
              </a:rPr>
              <a:t>6-Axis Spider / Radar Chart: </a:t>
            </a:r>
            <a:r>
              <a:t>Polar decomposition mapping risk probabilities across Drought, Waterlogging, Pest, Disease, Heat, and Soil Acidity in real time.</a:t>
            </a:r>
          </a:p>
        </p:txBody>
      </p:sp>
      <p:sp>
        <p:nvSpPr>
          <p:cNvPr id="6" name="Rounded Rectangle 5"/>
          <p:cNvSpPr/>
          <p:nvPr/>
        </p:nvSpPr>
        <p:spPr>
          <a:xfrm>
            <a:off x="6217920" y="1645920"/>
            <a:ext cx="521208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74519"/>
            <a:ext cx="4754880" cy="4114800"/>
          </a:xfrm>
          <a:prstGeom prst="rect">
            <a:avLst/>
          </a:prstGeom>
          <a:noFill/>
        </p:spPr>
        <p:txBody>
          <a:bodyPr wrap="square" lIns="0" tIns="0" rIns="0" bIns="0">
            <a:spAutoFit/>
          </a:bodyPr>
          <a:lstStyle/>
          <a:p>
            <a:pPr>
              <a:defRPr b="1" sz="1600">
                <a:solidFill>
                  <a:srgbClr val="F59E0B"/>
                </a:solidFill>
              </a:defRPr>
            </a:pPr>
            <a:r>
              <a:t>🔍 Explainable AI (XAI) &amp; ICAR Prescriptions</a:t>
            </a:r>
          </a:p>
          <a:p>
            <a:pPr>
              <a:spcBef>
                <a:spcPts val="800"/>
              </a:spcBef>
              <a:defRPr sz="1200">
                <a:solidFill>
                  <a:srgbClr val="CBD5E1"/>
                </a:solidFill>
              </a:defRPr>
            </a:pPr>
            <a:r>
              <a:rPr b="1">
                <a:solidFill>
                  <a:srgbClr val="F8FAFC"/>
                </a:solidFill>
              </a:rPr>
              <a:t>No Black Box Guarantee: </a:t>
            </a:r>
            <a:r>
              <a:t>Decomposes Gini feature importances to show farmers exactly why an alert was triggered (e.g. '72% of stress driven by consecutive wet days').</a:t>
            </a:r>
          </a:p>
          <a:p>
            <a:pPr>
              <a:spcBef>
                <a:spcPts val="800"/>
              </a:spcBef>
              <a:defRPr sz="1200">
                <a:solidFill>
                  <a:srgbClr val="CBD5E1"/>
                </a:solidFill>
              </a:defRPr>
            </a:pPr>
            <a:r>
              <a:rPr b="1">
                <a:solidFill>
                  <a:srgbClr val="F8FAFC"/>
                </a:solidFill>
              </a:rPr>
              <a:t>ICAR-CCARI Prescriptive Rules: </a:t>
            </a:r>
            <a:r>
              <a:t>Automatically pairs the prediction with approved scientific remedies (e.g. AWD water-saving irrigation, Bordeaux paste, pheromone traps).</a:t>
            </a:r>
          </a:p>
          <a:p>
            <a:pPr>
              <a:spcBef>
                <a:spcPts val="800"/>
              </a:spcBef>
              <a:defRPr sz="1200">
                <a:solidFill>
                  <a:srgbClr val="CBD5E1"/>
                </a:solidFill>
              </a:defRPr>
            </a:pPr>
            <a:r>
              <a:rPr b="1">
                <a:solidFill>
                  <a:srgbClr val="F8FAFC"/>
                </a:solidFill>
              </a:rPr>
              <a:t>One-Click WhatsApp Dispatch: </a:t>
            </a:r>
            <a:r>
              <a:t>Generates formatted advisory messages ready to share directly into village farmer WhatsApp groups.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r>
              <a:rPr b="1" sz="1100">
                <a:solidFill>
                  <a:srgbClr val="38BDF8"/>
                </a:solidFill>
              </a:rPr>
              <a:t>SPEAKER 3  |  </a:t>
            </a:r>
            <a:r>
              <a:rPr b="1" sz="1100">
                <a:solidFill>
                  <a:srgbClr val="10B981"/>
                </a:solidFill>
              </a:rPr>
              <a:t>🎯 TARGETING: INNOVATION &amp; USE OF AI (20 MARKS)</a:t>
            </a:r>
          </a:p>
          <a:p>
            <a:pPr>
              <a:defRPr b="1" sz="2400">
                <a:solidFill>
                  <a:srgbClr val="F8FAFC"/>
                </a:solidFill>
              </a:defRPr>
            </a:pPr>
            <a:r>
              <a:t>Tab 3: Multi-Modal Leaf Disease Vision Scanner</a:t>
            </a:r>
          </a:p>
          <a:p>
            <a:pPr>
              <a:defRPr sz="1300">
                <a:solidFill>
                  <a:srgbClr val="94A3B8"/>
                </a:solidFill>
              </a:defRPr>
            </a:pPr>
            <a:r>
              <a:t>Fusing computer vision lesion detection with live Goan microclimate telemetry</a:t>
            </a:r>
          </a:p>
        </p:txBody>
      </p:sp>
      <p:sp>
        <p:nvSpPr>
          <p:cNvPr id="4" name="Rounded Rectangle 3"/>
          <p:cNvSpPr/>
          <p:nvPr/>
        </p:nvSpPr>
        <p:spPr>
          <a:xfrm>
            <a:off x="731520" y="1645920"/>
            <a:ext cx="51206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4663440" cy="4114800"/>
          </a:xfrm>
          <a:prstGeom prst="rect">
            <a:avLst/>
          </a:prstGeom>
          <a:noFill/>
        </p:spPr>
        <p:txBody>
          <a:bodyPr wrap="square" lIns="0" tIns="0" rIns="0" bIns="0">
            <a:spAutoFit/>
          </a:bodyPr>
          <a:lstStyle/>
          <a:p>
            <a:pPr>
              <a:defRPr b="1" sz="1600">
                <a:solidFill>
                  <a:srgbClr val="38BDF8"/>
                </a:solidFill>
              </a:defRPr>
            </a:pPr>
            <a:r>
              <a:t>📸 Visual Computer Vision Diagnostics</a:t>
            </a:r>
          </a:p>
          <a:p>
            <a:pPr>
              <a:spcBef>
                <a:spcPts val="800"/>
              </a:spcBef>
              <a:defRPr sz="1200">
                <a:solidFill>
                  <a:srgbClr val="CBD5E1"/>
                </a:solidFill>
              </a:defRPr>
            </a:pPr>
            <a:r>
              <a:rPr b="1">
                <a:solidFill>
                  <a:srgbClr val="F8FAFC"/>
                </a:solidFill>
              </a:rPr>
              <a:t>Specimen Ingestion: </a:t>
            </a:r>
            <a:r>
              <a:t>Supports live photo uploads from mobile phones or one-click verified Goan field sample presets.</a:t>
            </a:r>
          </a:p>
          <a:p>
            <a:pPr>
              <a:spcBef>
                <a:spcPts val="800"/>
              </a:spcBef>
              <a:defRPr sz="1200">
                <a:solidFill>
                  <a:srgbClr val="CBD5E1"/>
                </a:solidFill>
              </a:defRPr>
            </a:pPr>
            <a:r>
              <a:rPr b="1">
                <a:solidFill>
                  <a:srgbClr val="F8FAFC"/>
                </a:solidFill>
              </a:rPr>
              <a:t>Colorimetry &amp; Lesion Segmentation: </a:t>
            </a:r>
            <a:r>
              <a:t>Analyzes green/yellow/brown necrotic tissue ratios and irregular lesion borders using NumPy &amp; PIL.</a:t>
            </a:r>
          </a:p>
          <a:p>
            <a:pPr>
              <a:spcBef>
                <a:spcPts val="800"/>
              </a:spcBef>
              <a:defRPr sz="1200">
                <a:solidFill>
                  <a:srgbClr val="CBD5E1"/>
                </a:solidFill>
              </a:defRPr>
            </a:pPr>
            <a:r>
              <a:rPr b="1">
                <a:solidFill>
                  <a:srgbClr val="F8FAFC"/>
                </a:solidFill>
              </a:rPr>
              <a:t>Trained Goan Pathologies: </a:t>
            </a:r>
            <a:r>
              <a:t>Rice Blast (भाताचेर करपा), Cashew Shoot Blight (काजू सुकती), Coconut Bud Rot (पोंगो कुजणी), and Healthy Baseline Foliage.</a:t>
            </a:r>
          </a:p>
        </p:txBody>
      </p:sp>
      <p:sp>
        <p:nvSpPr>
          <p:cNvPr id="6" name="Rounded Rectangle 5"/>
          <p:cNvSpPr/>
          <p:nvPr/>
        </p:nvSpPr>
        <p:spPr>
          <a:xfrm>
            <a:off x="6217920" y="1645920"/>
            <a:ext cx="521208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74519"/>
            <a:ext cx="4754880" cy="4114800"/>
          </a:xfrm>
          <a:prstGeom prst="rect">
            <a:avLst/>
          </a:prstGeom>
          <a:noFill/>
        </p:spPr>
        <p:txBody>
          <a:bodyPr wrap="square" lIns="0" tIns="0" rIns="0" bIns="0">
            <a:spAutoFit/>
          </a:bodyPr>
          <a:lstStyle/>
          <a:p>
            <a:pPr>
              <a:defRPr b="1" sz="1600">
                <a:solidFill>
                  <a:srgbClr val="10B981"/>
                </a:solidFill>
              </a:defRPr>
            </a:pPr>
            <a:r>
              <a:t>🔬 The Innovation: Multi-Modal Telemetry Fusion</a:t>
            </a:r>
          </a:p>
          <a:p>
            <a:pPr>
              <a:spcBef>
                <a:spcPts val="800"/>
              </a:spcBef>
              <a:defRPr sz="1200">
                <a:solidFill>
                  <a:srgbClr val="CBD5E1"/>
                </a:solidFill>
              </a:defRPr>
            </a:pPr>
            <a:r>
              <a:rPr b="1">
                <a:solidFill>
                  <a:srgbClr val="F8FAFC"/>
                </a:solidFill>
              </a:rPr>
              <a:t>The Pure-Vision Weakness: </a:t>
            </a:r>
            <a:r>
              <a:t>Standard leaf vision apps produce high false-positive rates (confusing sun scorch or mud stains with fungal blight).</a:t>
            </a:r>
          </a:p>
          <a:p>
            <a:pPr>
              <a:spcBef>
                <a:spcPts val="800"/>
              </a:spcBef>
              <a:defRPr sz="1200">
                <a:solidFill>
                  <a:srgbClr val="CBD5E1"/>
                </a:solidFill>
              </a:defRPr>
            </a:pPr>
            <a:r>
              <a:rPr b="1">
                <a:solidFill>
                  <a:srgbClr val="F8FAFC"/>
                </a:solidFill>
              </a:rPr>
              <a:t>Telemetry Fusion Heuristic: </a:t>
            </a:r>
            <a:r>
              <a:t>Our scanner checks whether current taluka weather supports active sporulation (e.g. Humidity &gt;85% + Temp 24-32°C).</a:t>
            </a:r>
          </a:p>
          <a:p>
            <a:pPr>
              <a:spcBef>
                <a:spcPts val="800"/>
              </a:spcBef>
              <a:defRPr sz="1200">
                <a:solidFill>
                  <a:srgbClr val="CBD5E1"/>
                </a:solidFill>
              </a:defRPr>
            </a:pPr>
            <a:r>
              <a:rPr b="1">
                <a:solidFill>
                  <a:srgbClr val="F8FAFC"/>
                </a:solidFill>
              </a:rPr>
              <a:t>Fused Confidence Score: </a:t>
            </a:r>
            <a:r>
              <a:t>Weather telemetry amplifies diagnosis confidence to 94%+, providing definitive fungicide prescriptions (Tricyclazole / Bordeaux paste).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r>
              <a:rPr b="1" sz="1100">
                <a:solidFill>
                  <a:srgbClr val="38BDF8"/>
                </a:solidFill>
              </a:rPr>
              <a:t>SPEAKER 4  |  </a:t>
            </a:r>
            <a:r>
              <a:rPr b="1" sz="1100">
                <a:solidFill>
                  <a:srgbClr val="10B981"/>
                </a:solidFill>
              </a:rPr>
              <a:t>🎯 TARGETING: SCALABILITY &amp; ADOPTION (15 MARKS)</a:t>
            </a:r>
          </a:p>
          <a:p>
            <a:pPr>
              <a:defRPr b="1" sz="2400">
                <a:solidFill>
                  <a:srgbClr val="F8FAFC"/>
                </a:solidFill>
              </a:defRPr>
            </a:pPr>
            <a:r>
              <a:t>Tab 6: 2G SMS Dispatcher &amp; Digital Inclusivity</a:t>
            </a:r>
          </a:p>
          <a:p>
            <a:pPr>
              <a:defRPr sz="1300">
                <a:solidFill>
                  <a:srgbClr val="94A3B8"/>
                </a:solidFill>
              </a:defRPr>
            </a:pPr>
            <a:r>
              <a:t>Reaching the most vulnerable smallholder farmers without requiring 5G smartphones</a:t>
            </a:r>
          </a:p>
        </p:txBody>
      </p:sp>
      <p:sp>
        <p:nvSpPr>
          <p:cNvPr id="4" name="Rounded Rectangle 3"/>
          <p:cNvSpPr/>
          <p:nvPr/>
        </p:nvSpPr>
        <p:spPr>
          <a:xfrm>
            <a:off x="731520" y="1645920"/>
            <a:ext cx="51206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4663440" cy="4114800"/>
          </a:xfrm>
          <a:prstGeom prst="rect">
            <a:avLst/>
          </a:prstGeom>
          <a:noFill/>
        </p:spPr>
        <p:txBody>
          <a:bodyPr wrap="square" lIns="0" tIns="0" rIns="0" bIns="0">
            <a:spAutoFit/>
          </a:bodyPr>
          <a:lstStyle/>
          <a:p>
            <a:pPr>
              <a:defRPr b="1" sz="1600">
                <a:solidFill>
                  <a:srgbClr val="F59E0B"/>
                </a:solidFill>
              </a:defRPr>
            </a:pPr>
            <a:r>
              <a:t>📱 Overcoming the Smartphone Divide</a:t>
            </a:r>
          </a:p>
          <a:p>
            <a:pPr>
              <a:spcBef>
                <a:spcPts val="800"/>
              </a:spcBef>
              <a:defRPr sz="1200">
                <a:solidFill>
                  <a:srgbClr val="CBD5E1"/>
                </a:solidFill>
              </a:defRPr>
            </a:pPr>
            <a:r>
              <a:rPr b="1">
                <a:solidFill>
                  <a:srgbClr val="F8FAFC"/>
                </a:solidFill>
              </a:rPr>
              <a:t>The Rural Dilemma: </a:t>
            </a:r>
            <a:r>
              <a:t>Over 45% of elderly rural Goan farmers in talukas like Sanguem and Canacona do not own smartphones or have 5G connectivity.</a:t>
            </a:r>
          </a:p>
          <a:p>
            <a:pPr>
              <a:spcBef>
                <a:spcPts val="800"/>
              </a:spcBef>
              <a:defRPr sz="1200">
                <a:solidFill>
                  <a:srgbClr val="CBD5E1"/>
                </a:solidFill>
              </a:defRPr>
            </a:pPr>
            <a:r>
              <a:rPr b="1">
                <a:solidFill>
                  <a:srgbClr val="F8FAFC"/>
                </a:solidFill>
              </a:rPr>
              <a:t>2G SMS Telecommunications Gateway: </a:t>
            </a:r>
            <a:r>
              <a:t>Integrates Twilio SMS APIs and fallback mock modes to deliver concise, actionable warnings under 160 characters.</a:t>
            </a:r>
          </a:p>
          <a:p>
            <a:pPr>
              <a:spcBef>
                <a:spcPts val="800"/>
              </a:spcBef>
              <a:defRPr sz="1200">
                <a:solidFill>
                  <a:srgbClr val="CBD5E1"/>
                </a:solidFill>
              </a:defRPr>
            </a:pPr>
            <a:r>
              <a:rPr b="1">
                <a:solidFill>
                  <a:srgbClr val="F8FAFC"/>
                </a:solidFill>
              </a:rPr>
              <a:t>Interactive Phone Mockup: </a:t>
            </a:r>
            <a:r>
              <a:t>Tab 6 provides a live 2G feature phone screen preview showing the exact text message layout.</a:t>
            </a:r>
          </a:p>
          <a:p>
            <a:pPr>
              <a:spcBef>
                <a:spcPts val="800"/>
              </a:spcBef>
              <a:defRPr sz="1200">
                <a:solidFill>
                  <a:srgbClr val="CBD5E1"/>
                </a:solidFill>
              </a:defRPr>
            </a:pPr>
            <a:r>
              <a:rPr b="1">
                <a:solidFill>
                  <a:srgbClr val="F8FAFC"/>
                </a:solidFill>
              </a:rPr>
              <a:t>Multi-Channel WhatsApp Sharing: </a:t>
            </a:r>
            <a:r>
              <a:t>One-click broadcast buttons for local village panchayat WhatsApp groups.</a:t>
            </a:r>
          </a:p>
        </p:txBody>
      </p:sp>
      <p:sp>
        <p:nvSpPr>
          <p:cNvPr id="6" name="Rounded Rectangle 5"/>
          <p:cNvSpPr/>
          <p:nvPr/>
        </p:nvSpPr>
        <p:spPr>
          <a:xfrm>
            <a:off x="6217920" y="1645920"/>
            <a:ext cx="521208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74519"/>
            <a:ext cx="4754880" cy="4114800"/>
          </a:xfrm>
          <a:prstGeom prst="rect">
            <a:avLst/>
          </a:prstGeom>
          <a:noFill/>
        </p:spPr>
        <p:txBody>
          <a:bodyPr wrap="square" lIns="0" tIns="0" rIns="0" bIns="0">
            <a:spAutoFit/>
          </a:bodyPr>
          <a:lstStyle/>
          <a:p>
            <a:pPr>
              <a:defRPr b="1" sz="1600">
                <a:solidFill>
                  <a:srgbClr val="38BDF8"/>
                </a:solidFill>
              </a:defRPr>
            </a:pPr>
            <a:r>
              <a:t>📑 Anti-Spam Governance &amp; CSV Audit Trails</a:t>
            </a:r>
          </a:p>
          <a:p>
            <a:pPr>
              <a:spcBef>
                <a:spcPts val="800"/>
              </a:spcBef>
              <a:defRPr sz="1200">
                <a:solidFill>
                  <a:srgbClr val="CBD5E1"/>
                </a:solidFill>
              </a:defRPr>
            </a:pPr>
            <a:r>
              <a:rPr b="1">
                <a:solidFill>
                  <a:srgbClr val="F8FAFC"/>
                </a:solidFill>
              </a:rPr>
              <a:t>15-Minute Anti-Spam Rate Limiter: </a:t>
            </a:r>
            <a:r>
              <a:t>Prevents bombarding farmers with duplicate alerts if meteorological sensors fluctuate.</a:t>
            </a:r>
          </a:p>
          <a:p>
            <a:pPr>
              <a:spcBef>
                <a:spcPts val="800"/>
              </a:spcBef>
              <a:defRPr sz="1200">
                <a:solidFill>
                  <a:srgbClr val="CBD5E1"/>
                </a:solidFill>
              </a:defRPr>
            </a:pPr>
            <a:r>
              <a:rPr b="1">
                <a:solidFill>
                  <a:srgbClr val="F8FAFC"/>
                </a:solidFill>
              </a:rPr>
              <a:t>Immutable CSV Audit Logging: </a:t>
            </a:r>
            <a:r>
              <a:t>Every dispatched alert is permanently logged to data/alert_history.csv with timestamps, taluka, crop, and risk levels.</a:t>
            </a:r>
          </a:p>
          <a:p>
            <a:pPr>
              <a:spcBef>
                <a:spcPts val="800"/>
              </a:spcBef>
              <a:defRPr sz="1200">
                <a:solidFill>
                  <a:srgbClr val="CBD5E1"/>
                </a:solidFill>
              </a:defRPr>
            </a:pPr>
            <a:r>
              <a:rPr b="1">
                <a:solidFill>
                  <a:srgbClr val="F8FAFC"/>
                </a:solidFill>
              </a:rPr>
              <a:t>Government Export: </a:t>
            </a:r>
            <a:r>
              <a:t>Officers can download complete audit records as CSV for departmental review and subsidy verification.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r>
              <a:rPr b="1" sz="1100">
                <a:solidFill>
                  <a:srgbClr val="38BDF8"/>
                </a:solidFill>
              </a:rPr>
              <a:t>SPEAKER 4  |  </a:t>
            </a:r>
            <a:r>
              <a:rPr b="1" sz="1100">
                <a:solidFill>
                  <a:srgbClr val="10B981"/>
                </a:solidFill>
              </a:rPr>
              <a:t>🎯 TARGETING: RESPONSIBLE AI (10 MARKS)</a:t>
            </a:r>
          </a:p>
          <a:p>
            <a:pPr>
              <a:defRPr b="1" sz="2400">
                <a:solidFill>
                  <a:srgbClr val="F8FAFC"/>
                </a:solidFill>
              </a:defRPr>
            </a:pPr>
            <a:r>
              <a:t>Tab 7: Responsible AI &amp; Ethical Governance</a:t>
            </a:r>
          </a:p>
          <a:p>
            <a:pPr>
              <a:defRPr sz="1300">
                <a:solidFill>
                  <a:srgbClr val="94A3B8"/>
                </a:solidFill>
              </a:defRPr>
            </a:pPr>
            <a:r>
              <a:t>100% compliance with India's DPDP Act 2023 &amp; the Sankalp Setu Code of Conduct</a:t>
            </a:r>
          </a:p>
        </p:txBody>
      </p:sp>
      <p:sp>
        <p:nvSpPr>
          <p:cNvPr id="4" name="Rounded Rectangle 3"/>
          <p:cNvSpPr/>
          <p:nvPr/>
        </p:nvSpPr>
        <p:spPr>
          <a:xfrm>
            <a:off x="731520" y="1645920"/>
            <a:ext cx="51206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4663440" cy="4114800"/>
          </a:xfrm>
          <a:prstGeom prst="rect">
            <a:avLst/>
          </a:prstGeom>
          <a:noFill/>
        </p:spPr>
        <p:txBody>
          <a:bodyPr wrap="square" lIns="0" tIns="0" rIns="0" bIns="0">
            <a:spAutoFit/>
          </a:bodyPr>
          <a:lstStyle/>
          <a:p>
            <a:pPr>
              <a:defRPr b="1" sz="1600">
                <a:solidFill>
                  <a:srgbClr val="10B981"/>
                </a:solidFill>
              </a:defRPr>
            </a:pPr>
            <a:r>
              <a:t>🛡️ Privacy, Security &amp; Compliance</a:t>
            </a:r>
          </a:p>
          <a:p>
            <a:pPr>
              <a:spcBef>
                <a:spcPts val="800"/>
              </a:spcBef>
              <a:defRPr sz="1200">
                <a:solidFill>
                  <a:srgbClr val="CBD5E1"/>
                </a:solidFill>
              </a:defRPr>
            </a:pPr>
            <a:r>
              <a:rPr b="1">
                <a:solidFill>
                  <a:srgbClr val="F8FAFC"/>
                </a:solidFill>
              </a:rPr>
              <a:t>Zero Citizen PII Collected: </a:t>
            </a:r>
            <a:r>
              <a:t>Zero farmer names, Aadhaar numbers, phonebooks, or land deeds are stored on cloud servers. Complies with DPDP Act 2023.</a:t>
            </a:r>
          </a:p>
          <a:p>
            <a:pPr>
              <a:spcBef>
                <a:spcPts val="800"/>
              </a:spcBef>
              <a:defRPr sz="1200">
                <a:solidFill>
                  <a:srgbClr val="CBD5E1"/>
                </a:solidFill>
              </a:defRPr>
            </a:pPr>
            <a:r>
              <a:rPr b="1">
                <a:solidFill>
                  <a:srgbClr val="F8FAFC"/>
                </a:solidFill>
              </a:rPr>
              <a:t>Public &amp; Synthetic Data Only: </a:t>
            </a:r>
            <a:r>
              <a:t>Strictly adheres to hackathon guidelines by utilizing public OpenWeatherMap APIs, IMD bulletins, and synthetic agro-climatic datasets.</a:t>
            </a:r>
          </a:p>
          <a:p>
            <a:pPr>
              <a:spcBef>
                <a:spcPts val="800"/>
              </a:spcBef>
              <a:defRPr sz="1200">
                <a:solidFill>
                  <a:srgbClr val="CBD5E1"/>
                </a:solidFill>
              </a:defRPr>
            </a:pPr>
            <a:r>
              <a:rPr b="1">
                <a:solidFill>
                  <a:srgbClr val="F8FAFC"/>
                </a:solidFill>
              </a:rPr>
              <a:t>Human-in-the-Loop Guardrails: </a:t>
            </a:r>
            <a:r>
              <a:t>AgriWatch is designed as a decision-support advisory tool for ZAO officers and farmers, never an autonomous pesticide buyer.</a:t>
            </a:r>
          </a:p>
        </p:txBody>
      </p:sp>
      <p:sp>
        <p:nvSpPr>
          <p:cNvPr id="6" name="Rounded Rectangle 5"/>
          <p:cNvSpPr/>
          <p:nvPr/>
        </p:nvSpPr>
        <p:spPr>
          <a:xfrm>
            <a:off x="6217920" y="1645920"/>
            <a:ext cx="521208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74519"/>
            <a:ext cx="4754880" cy="4114800"/>
          </a:xfrm>
          <a:prstGeom prst="rect">
            <a:avLst/>
          </a:prstGeom>
          <a:noFill/>
        </p:spPr>
        <p:txBody>
          <a:bodyPr wrap="square" lIns="0" tIns="0" rIns="0" bIns="0">
            <a:spAutoFit/>
          </a:bodyPr>
          <a:lstStyle/>
          <a:p>
            <a:pPr>
              <a:defRPr b="1" sz="1600">
                <a:solidFill>
                  <a:srgbClr val="38BDF8"/>
                </a:solidFill>
              </a:defRPr>
            </a:pPr>
            <a:r>
              <a:t>⚖️ Algorithmic Fairness &amp; Disclosure</a:t>
            </a:r>
          </a:p>
          <a:p>
            <a:pPr>
              <a:spcBef>
                <a:spcPts val="800"/>
              </a:spcBef>
              <a:defRPr sz="1200">
                <a:solidFill>
                  <a:srgbClr val="CBD5E1"/>
                </a:solidFill>
              </a:defRPr>
            </a:pPr>
            <a:r>
              <a:rPr b="1">
                <a:solidFill>
                  <a:srgbClr val="F8FAFC"/>
                </a:solidFill>
              </a:rPr>
              <a:t>Taluka-Level Fairness Audit: </a:t>
            </a:r>
            <a:r>
              <a:t>Model recall audited across coastal talukas (Salcete: 92.1%) vs. inland talukas (Sattari: 91.8%) to eliminate regional algorithmic bias.</a:t>
            </a:r>
          </a:p>
          <a:p>
            <a:pPr>
              <a:spcBef>
                <a:spcPts val="800"/>
              </a:spcBef>
              <a:defRPr sz="1200">
                <a:solidFill>
                  <a:srgbClr val="CBD5E1"/>
                </a:solidFill>
              </a:defRPr>
            </a:pPr>
            <a:r>
              <a:rPr b="1">
                <a:solidFill>
                  <a:srgbClr val="F8FAFC"/>
                </a:solidFill>
              </a:rPr>
              <a:t>Official AI Tool Disclosure: </a:t>
            </a:r>
            <a:r>
              <a:t>Complete disclosure table detailing where scikit-learn, Streamlit, and assistive AI coding tools were utilized.</a:t>
            </a:r>
          </a:p>
          <a:p>
            <a:pPr>
              <a:spcBef>
                <a:spcPts val="800"/>
              </a:spcBef>
              <a:defRPr sz="1200">
                <a:solidFill>
                  <a:srgbClr val="CBD5E1"/>
                </a:solidFill>
              </a:defRPr>
            </a:pPr>
            <a:r>
              <a:rPr b="1">
                <a:solidFill>
                  <a:srgbClr val="F8FAFC"/>
                </a:solidFill>
              </a:rPr>
              <a:t>Transparency &amp; Explainability: </a:t>
            </a:r>
            <a:r>
              <a:t>Every stress alert is accompanied by Gini feature importance attribution, ensuring zero unexplainable decisions.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r>
              <a:rPr b="1" sz="1100">
                <a:solidFill>
                  <a:srgbClr val="38BDF8"/>
                </a:solidFill>
              </a:rPr>
              <a:t>SPEAKER 4  |  </a:t>
            </a:r>
            <a:r>
              <a:rPr b="1" sz="1100">
                <a:solidFill>
                  <a:srgbClr val="10B981"/>
                </a:solidFill>
              </a:rPr>
              <a:t>🎯 TARGETING: SCALABILITY &amp; PRESENTATION (20 MARKS)</a:t>
            </a:r>
          </a:p>
          <a:p>
            <a:pPr>
              <a:defRPr b="1" sz="2400">
                <a:solidFill>
                  <a:srgbClr val="F8FAFC"/>
                </a:solidFill>
              </a:defRPr>
            </a:pPr>
            <a:r>
              <a:t>Tab 8: Goa Govt Scalability Roadmap &amp; Economic ROI</a:t>
            </a:r>
          </a:p>
          <a:p>
            <a:pPr>
              <a:defRPr sz="1300">
                <a:solidFill>
                  <a:srgbClr val="94A3B8"/>
                </a:solidFill>
              </a:defRPr>
            </a:pPr>
            <a:r>
              <a:t>Deployable across 190+ Village Panchayats for under ₹1.5 Lakhs</a:t>
            </a:r>
          </a:p>
        </p:txBody>
      </p:sp>
      <p:sp>
        <p:nvSpPr>
          <p:cNvPr id="4" name="Rounded Rectangle 3"/>
          <p:cNvSpPr/>
          <p:nvPr/>
        </p:nvSpPr>
        <p:spPr>
          <a:xfrm>
            <a:off x="731520" y="1645920"/>
            <a:ext cx="5120640" cy="4572000"/>
          </a:xfrm>
          <a:prstGeom prst="roundRect">
            <a:avLst/>
          </a:prstGeom>
          <a:solidFill>
            <a:srgbClr val="162136"/>
          </a:solidFill>
          <a:ln w="19050">
            <a:solidFill>
              <a:srgbClr val="2637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4663440" cy="4114800"/>
          </a:xfrm>
          <a:prstGeom prst="rect">
            <a:avLst/>
          </a:prstGeom>
          <a:noFill/>
        </p:spPr>
        <p:txBody>
          <a:bodyPr wrap="square" lIns="0" tIns="0" rIns="0" bIns="0">
            <a:spAutoFit/>
          </a:bodyPr>
          <a:lstStyle/>
          <a:p>
            <a:pPr>
              <a:defRPr b="1" sz="1600">
                <a:solidFill>
                  <a:srgbClr val="38BDF8"/>
                </a:solidFill>
              </a:defRPr>
            </a:pPr>
            <a:r>
              <a:t>🏛️ Concrete 3-Phase Deployment Roadmap</a:t>
            </a:r>
          </a:p>
          <a:p>
            <a:pPr>
              <a:spcBef>
                <a:spcPts val="800"/>
              </a:spcBef>
              <a:defRPr sz="1200">
                <a:solidFill>
                  <a:srgbClr val="CBD5E1"/>
                </a:solidFill>
              </a:defRPr>
            </a:pPr>
            <a:r>
              <a:rPr b="1">
                <a:solidFill>
                  <a:srgbClr val="F8FAFC"/>
                </a:solidFill>
              </a:rPr>
              <a:t>Phase 1: ZAO &amp; KVK Pilot (Months 1-3): </a:t>
            </a:r>
            <a:r>
              <a:t>Pilot deployment at Zonal Agriculture Offices and Krishi Vigyan Kendras (Old Goa &amp; Margao).</a:t>
            </a:r>
          </a:p>
          <a:p>
            <a:pPr>
              <a:spcBef>
                <a:spcPts val="800"/>
              </a:spcBef>
              <a:defRPr sz="1200">
                <a:solidFill>
                  <a:srgbClr val="CBD5E1"/>
                </a:solidFill>
              </a:defRPr>
            </a:pPr>
            <a:r>
              <a:rPr b="1">
                <a:solidFill>
                  <a:srgbClr val="F8FAFC"/>
                </a:solidFill>
              </a:rPr>
              <a:t>Phase 2: Panchayat e-Gram Kiosks (Months 4-6): </a:t>
            </a:r>
            <a:r>
              <a:t>Integrate into 190+ Village Panchayat kiosks for walk-in Kisan Health Card printing.</a:t>
            </a:r>
          </a:p>
          <a:p>
            <a:pPr>
              <a:spcBef>
                <a:spcPts val="800"/>
              </a:spcBef>
              <a:defRPr sz="1200">
                <a:solidFill>
                  <a:srgbClr val="CBD5E1"/>
                </a:solidFill>
              </a:defRPr>
            </a:pPr>
            <a:r>
              <a:rPr b="1">
                <a:solidFill>
                  <a:srgbClr val="F8FAFC"/>
                </a:solidFill>
              </a:rPr>
              <a:t>Phase 3: Kisan Call Centre 1800-180-1551 (Months 7-12): </a:t>
            </a:r>
            <a:r>
              <a:t>Automate IVRS voice advisory calls in spoken Konkani for illiterate farmers.</a:t>
            </a:r>
          </a:p>
        </p:txBody>
      </p:sp>
      <p:sp>
        <p:nvSpPr>
          <p:cNvPr id="6" name="Rounded Rectangle 5"/>
          <p:cNvSpPr/>
          <p:nvPr/>
        </p:nvSpPr>
        <p:spPr>
          <a:xfrm>
            <a:off x="6217920" y="1645920"/>
            <a:ext cx="5212080" cy="4572000"/>
          </a:xfrm>
          <a:prstGeom prst="roundRect">
            <a:avLst/>
          </a:prstGeom>
          <a:solidFill>
            <a:srgbClr val="16213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74519"/>
            <a:ext cx="4754880" cy="4114800"/>
          </a:xfrm>
          <a:prstGeom prst="rect">
            <a:avLst/>
          </a:prstGeom>
          <a:noFill/>
        </p:spPr>
        <p:txBody>
          <a:bodyPr wrap="square" lIns="0" tIns="0" rIns="0" bIns="0">
            <a:spAutoFit/>
          </a:bodyPr>
          <a:lstStyle/>
          <a:p>
            <a:pPr>
              <a:defRPr b="1" sz="1600">
                <a:solidFill>
                  <a:srgbClr val="10B981"/>
                </a:solidFill>
              </a:defRPr>
            </a:pPr>
            <a:r>
              <a:t>💰 Massive Economic Return on Investment</a:t>
            </a:r>
          </a:p>
          <a:p>
            <a:pPr>
              <a:spcBef>
                <a:spcPts val="800"/>
              </a:spcBef>
              <a:defRPr sz="1200">
                <a:solidFill>
                  <a:srgbClr val="CBD5E1"/>
                </a:solidFill>
              </a:defRPr>
            </a:pPr>
            <a:r>
              <a:rPr b="1">
                <a:solidFill>
                  <a:srgbClr val="F8FAFC"/>
                </a:solidFill>
              </a:rPr>
              <a:t>Minimal Compute Overhead (&lt;₹1.5L): </a:t>
            </a:r>
            <a:r>
              <a:t>Runs on low-cost open-source cloud infrastructure; zero expensive proprietary GPU dependencies.</a:t>
            </a:r>
          </a:p>
          <a:p>
            <a:pPr>
              <a:spcBef>
                <a:spcPts val="800"/>
              </a:spcBef>
              <a:defRPr sz="1200">
                <a:solidFill>
                  <a:srgbClr val="CBD5E1"/>
                </a:solidFill>
              </a:defRPr>
            </a:pPr>
            <a:r>
              <a:rPr b="1">
                <a:solidFill>
                  <a:srgbClr val="F8FAFC"/>
                </a:solidFill>
              </a:rPr>
              <a:t>Economic Value Delivered: </a:t>
            </a:r>
            <a:r>
              <a:t>Protects Goa's agrarian economy against an estimated ₹50 to 80 Crores annually in preventable crop damage.</a:t>
            </a:r>
          </a:p>
          <a:p>
            <a:pPr>
              <a:spcBef>
                <a:spcPts val="800"/>
              </a:spcBef>
              <a:defRPr sz="1200">
                <a:solidFill>
                  <a:srgbClr val="CBD5E1"/>
                </a:solidFill>
              </a:defRPr>
            </a:pPr>
            <a:r>
              <a:rPr b="1">
                <a:solidFill>
                  <a:srgbClr val="F8FAFC"/>
                </a:solidFill>
              </a:rPr>
              <a:t>Our Closing Commitment: </a:t>
            </a:r>
            <a:r>
              <a:t>AgriWatch Goa bridges advanced artificial intelligence with the humble hands that feed our State. We are ready to deploy!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