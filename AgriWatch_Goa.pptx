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2926080" cy="292608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69280" y="640080"/>
            <a:ext cx="3291840" cy="3291840"/>
          </a:xfrm>
          <a:prstGeom prst="ellipse">
            <a:avLst/>
          </a:prstGeom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212080" y="914400"/>
            <a:ext cx="4206240" cy="4206240"/>
          </a:xfrm>
          <a:prstGeom prst="ellipse">
            <a:avLst/>
          </a:prstGeom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754880" y="1188720"/>
            <a:ext cx="5120640" cy="5120640"/>
          </a:xfrm>
          <a:prstGeom prst="ellipse">
            <a:avLst/>
          </a:prstGeom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297680" y="1463040"/>
            <a:ext cx="6035040" cy="6035040"/>
          </a:xfrm>
          <a:prstGeom prst="ellipse">
            <a:avLst/>
          </a:prstGeom>
          <a:ln w="12700">
            <a:solidFill>
              <a:srgbClr val="10B981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949440" y="1737360"/>
            <a:ext cx="228600" cy="22860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640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🌱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AgriWatch Goa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774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AI-Powered Crop Stress Detection &amp; Farm Early-Warning Platform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Detect Early. Act Early. Protect Crops.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2926080" cy="292608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The Problem Farmers 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1874520" cy="2286000"/>
          </a:xfrm>
          <a:prstGeom prst="roundRect">
            <a:avLst>
              <a:gd name="adj" fmla="val 7317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🌧️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Heavy Rainfall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Waterlogging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1874520" cy="2286000"/>
          </a:xfrm>
          <a:prstGeom prst="roundRect">
            <a:avLst>
              <a:gd name="adj" fmla="val 7317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606040" y="16459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☀️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Dry Periods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Drought Stress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74520" cy="2286000"/>
          </a:xfrm>
          <a:prstGeom prst="roundRect">
            <a:avLst>
              <a:gd name="adj" fmla="val 7317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663440" y="16459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🌡️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High Temperature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Heat Stress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463040"/>
            <a:ext cx="1874520" cy="2286000"/>
          </a:xfrm>
          <a:prstGeom prst="roundRect">
            <a:avLst>
              <a:gd name="adj" fmla="val 7317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720840" y="16459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🦠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Humidity &amp; Weather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Pest &amp; Disease Risk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Farmers often see problems only after damage is visible.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2926080" cy="292608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From Weather Data to Early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2880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21792" y="1828800"/>
            <a:ext cx="1225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Weather + Soil + Crop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20240" y="2377440"/>
            <a:ext cx="320040" cy="27432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212848" y="182880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286000" y="1828800"/>
            <a:ext cx="1225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AI Risk Detection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84448" y="2377440"/>
            <a:ext cx="320040" cy="27432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877056" y="182880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950208" y="1828800"/>
            <a:ext cx="1225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Explainable Results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48656" y="2377440"/>
            <a:ext cx="320040" cy="27432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541264" y="182880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614416" y="1828800"/>
            <a:ext cx="1225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Farmer Advisory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12864" y="2377440"/>
            <a:ext cx="320040" cy="27432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205472" y="182880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278624" y="1828800"/>
            <a:ext cx="1225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1B1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Early Action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Agricultural data → actionable early warnings.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2926080" cy="292608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How AgriWatch Goa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1691640" cy="3108960"/>
          </a:xfrm>
          <a:prstGeom prst="roundRect">
            <a:avLst>
              <a:gd name="adj" fmla="val 8108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Rainfall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Humidity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Soil Moisture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Crop Type &amp; Stage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67712" y="2880360"/>
            <a:ext cx="320040" cy="27432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651760" y="1463040"/>
            <a:ext cx="1691640" cy="3108960"/>
          </a:xfrm>
          <a:prstGeom prst="roundRect">
            <a:avLst>
              <a:gd name="adj" fmla="val 8108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651760" y="1554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21945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🧠</a:t>
            </a:r>
            <a:endParaRPr lang="en-US" sz="6000" dirty="0"/>
          </a:p>
        </p:txBody>
      </p:sp>
      <p:sp>
        <p:nvSpPr>
          <p:cNvPr id="17" name="Shape 15"/>
          <p:cNvSpPr/>
          <p:nvPr/>
        </p:nvSpPr>
        <p:spPr>
          <a:xfrm>
            <a:off x="4370832" y="2880360"/>
            <a:ext cx="320040" cy="27432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1691640" cy="3108960"/>
          </a:xfrm>
          <a:prstGeom prst="roundRect">
            <a:avLst>
              <a:gd name="adj" fmla="val 8108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754880" y="1554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RISK DETECTION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1965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Drought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Waterlogging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Pest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Disease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Nutrient / pH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73952" y="2880360"/>
            <a:ext cx="320040" cy="27432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858000" y="1463040"/>
            <a:ext cx="1691640" cy="3108960"/>
          </a:xfrm>
          <a:prstGeom prst="roundRect">
            <a:avLst>
              <a:gd name="adj" fmla="val 8108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858000" y="1554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1965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📊 Dashboard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🚨 Alerts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2926080" cy="292608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One Dashboard for Goa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371600"/>
            <a:ext cx="4023360" cy="3291840"/>
          </a:xfrm>
          <a:prstGeom prst="roundRect">
            <a:avLst>
              <a:gd name="adj" fmla="val 4167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651760" y="1737360"/>
            <a:ext cx="256032" cy="25603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0A141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2194560"/>
            <a:ext cx="256032" cy="25603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A14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926080" y="237744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A141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560320" y="2834640"/>
            <a:ext cx="256032" cy="25603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0A141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017520" y="3108960"/>
            <a:ext cx="256032" cy="25603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A14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286000" y="347472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A141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834640" y="3657600"/>
            <a:ext cx="256032" cy="25603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0A14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91840" y="2743200"/>
            <a:ext cx="256032" cy="25603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A141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103120" y="292608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A141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383280" y="3931920"/>
            <a:ext cx="256032" cy="25603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0A141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651760" y="4114800"/>
            <a:ext cx="256032" cy="25603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A141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017520" y="192024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A141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152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12 Talukas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371600"/>
            <a:ext cx="1874520" cy="1508760"/>
          </a:xfrm>
          <a:prstGeom prst="roundRect">
            <a:avLst>
              <a:gd name="adj" fmla="val 9091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846320" y="15087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🌡️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03720" y="1371600"/>
            <a:ext cx="1874520" cy="1508760"/>
          </a:xfrm>
          <a:prstGeom prst="roundRect">
            <a:avLst>
              <a:gd name="adj" fmla="val 9091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903720" y="15087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💦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Humidity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3063240"/>
            <a:ext cx="1874520" cy="1508760"/>
          </a:xfrm>
          <a:prstGeom prst="roundRect">
            <a:avLst>
              <a:gd name="adj" fmla="val 9091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4846320" y="3200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🌧️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977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Rainfall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03720" y="3063240"/>
            <a:ext cx="1874520" cy="1508760"/>
          </a:xfrm>
          <a:prstGeom prst="roundRect">
            <a:avLst>
              <a:gd name="adj" fmla="val 9091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903720" y="3200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🌱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3977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Soil Moisture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2926080" cy="292608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Digital Kisan Crop Health 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463040" y="1371600"/>
            <a:ext cx="6217920" cy="3017520"/>
          </a:xfrm>
          <a:prstGeom prst="roundRect">
            <a:avLst>
              <a:gd name="adj" fmla="val 4545"/>
            </a:avLst>
          </a:prstGeom>
          <a:solidFill>
            <a:srgbClr val="F4FFF6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463040" y="1371600"/>
            <a:ext cx="621792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691640" y="1371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1B1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🌱 DIGITAL KISAN  ·  ID GA-0427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Location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359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1B1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Salcete, Goa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Crop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2359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1B1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Rice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Crop Health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090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1B1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Moderate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Risk Level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3090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1B1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⚠ Medium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AI Grade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822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1B1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B+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Advisory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069080" y="3822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1B1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Improve drainage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2148840"/>
            <a:ext cx="1005840" cy="1005840"/>
          </a:xfrm>
          <a:prstGeom prst="rect">
            <a:avLst/>
          </a:prstGeom>
          <a:solidFill>
            <a:srgbClr val="0A141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492240" y="2404872"/>
            <a:ext cx="128016" cy="128016"/>
          </a:xfrm>
          <a:prstGeom prst="rect">
            <a:avLst/>
          </a:prstGeom>
          <a:solidFill>
            <a:srgbClr val="F4FFF6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92240" y="2569464"/>
            <a:ext cx="128016" cy="128016"/>
          </a:xfrm>
          <a:prstGeom prst="rect">
            <a:avLst/>
          </a:prstGeom>
          <a:solidFill>
            <a:srgbClr val="F4FFF6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492240" y="2898648"/>
            <a:ext cx="128016" cy="128016"/>
          </a:xfrm>
          <a:prstGeom prst="rect">
            <a:avLst/>
          </a:prstGeom>
          <a:solidFill>
            <a:srgbClr val="F4FFF6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821424" y="2404872"/>
            <a:ext cx="128016" cy="128016"/>
          </a:xfrm>
          <a:prstGeom prst="rect">
            <a:avLst/>
          </a:prstGeom>
          <a:solidFill>
            <a:srgbClr val="F4FFF6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821424" y="2569464"/>
            <a:ext cx="128016" cy="128016"/>
          </a:xfrm>
          <a:prstGeom prst="rect">
            <a:avLst/>
          </a:prstGeom>
          <a:solidFill>
            <a:srgbClr val="F4FFF6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821424" y="2898648"/>
            <a:ext cx="128016" cy="128016"/>
          </a:xfrm>
          <a:prstGeom prst="rect">
            <a:avLst/>
          </a:prstGeom>
          <a:solidFill>
            <a:srgbClr val="F4FFF6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986016" y="2404872"/>
            <a:ext cx="128016" cy="128016"/>
          </a:xfrm>
          <a:prstGeom prst="rect">
            <a:avLst/>
          </a:prstGeom>
          <a:solidFill>
            <a:srgbClr val="F4FFF6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986016" y="2569464"/>
            <a:ext cx="128016" cy="128016"/>
          </a:xfrm>
          <a:prstGeom prst="rect">
            <a:avLst/>
          </a:prstGeom>
          <a:solidFill>
            <a:srgbClr val="F4FFF6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986016" y="2898648"/>
            <a:ext cx="128016" cy="128016"/>
          </a:xfrm>
          <a:prstGeom prst="rect">
            <a:avLst/>
          </a:prstGeom>
          <a:solidFill>
            <a:srgbClr val="F4FFF6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Prototype concept for future government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2926080" cy="292608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AI-Powered Crop Stress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91840" y="1417320"/>
            <a:ext cx="2560320" cy="2560320"/>
          </a:xfrm>
          <a:prstGeom prst="ellipse">
            <a:avLst/>
          </a:prstGeom>
          <a:solidFill>
            <a:srgbClr val="0F221E"/>
          </a:solidFill>
          <a:ln w="254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3291840" y="16916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🧠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INPUTS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Weather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Soil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Crop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Location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Growth Stage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OUTPUTS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Overall Stress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Hazard Detection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Risk Level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Advisory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91.86%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Python + Scikit-learn  ·  Synthetic Goa-specific dataset; real-field validation is next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2926080" cy="292608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What If the Weather Changes?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🌧️ 140 mm    💧 6 wet days    💦 92%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LOW  →  HIGH RISK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WHY?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Rainfall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3364992"/>
            <a:ext cx="2331720" cy="164592"/>
          </a:xfrm>
          <a:prstGeom prst="roundRect">
            <a:avLst>
              <a:gd name="adj" fmla="val 27778"/>
            </a:avLst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48640" y="3611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Soil Moisture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3639312"/>
            <a:ext cx="1783080" cy="164592"/>
          </a:xfrm>
          <a:prstGeom prst="roundRect">
            <a:avLst>
              <a:gd name="adj" fmla="val 27778"/>
            </a:avLst>
          </a:prstGeom>
          <a:solidFill>
            <a:srgbClr val="0F221E"/>
          </a:solidFill>
          <a:ln w="63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3886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Humidity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3913632"/>
            <a:ext cx="1371600" cy="164592"/>
          </a:xfrm>
          <a:prstGeom prst="roundRect">
            <a:avLst>
              <a:gd name="adj" fmla="val 27778"/>
            </a:avLst>
          </a:prstGeom>
          <a:solidFill>
            <a:srgbClr val="0F221E"/>
          </a:solidFill>
          <a:ln w="63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4864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4187952"/>
            <a:ext cx="822960" cy="164592"/>
          </a:xfrm>
          <a:prstGeom prst="roundRect">
            <a:avLst>
              <a:gd name="adj" fmla="val 27778"/>
            </a:avLst>
          </a:prstGeom>
          <a:solidFill>
            <a:srgbClr val="0F221E"/>
          </a:solidFill>
          <a:ln w="63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4434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Crop Conditions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4462272"/>
            <a:ext cx="548640" cy="164592"/>
          </a:xfrm>
          <a:prstGeom prst="roundRect">
            <a:avLst>
              <a:gd name="adj" fmla="val 27778"/>
            </a:avLst>
          </a:prstGeom>
          <a:solidFill>
            <a:srgbClr val="0F221E"/>
          </a:solidFill>
          <a:ln w="63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3840480" cy="3383280"/>
          </a:xfrm>
          <a:prstGeom prst="roundRect">
            <a:avLst>
              <a:gd name="adj" fmla="val 4054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754880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🧠</a:t>
            </a:r>
            <a:endParaRPr lang="en-US" sz="60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017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We don’t just predict risk 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we explain it.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2926080" cy="292608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AI That Can See Crop Stress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371600"/>
            <a:ext cx="2377440" cy="822960"/>
          </a:xfrm>
          <a:prstGeom prst="roundRect">
            <a:avLst>
              <a:gd name="adj" fmla="val 16667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🍃 Leaf Image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17520" y="1645920"/>
            <a:ext cx="320040" cy="27432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383280" y="1371600"/>
            <a:ext cx="2377440" cy="822960"/>
          </a:xfrm>
          <a:prstGeom prst="roundRect">
            <a:avLst>
              <a:gd name="adj" fmla="val 16667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38328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👁️ Vision Analysis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52160" y="1645920"/>
            <a:ext cx="320040" cy="27432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377440" cy="822960"/>
          </a:xfrm>
          <a:prstGeom prst="roundRect">
            <a:avLst>
              <a:gd name="adj" fmla="val 16667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21792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⚠️ Possible Issue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1874520" cy="1463040"/>
          </a:xfrm>
          <a:prstGeom prst="roundRect">
            <a:avLst>
              <a:gd name="adj" fmla="val 9375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48640" y="26517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🌾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Rice Blast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606040" y="2468880"/>
            <a:ext cx="1874520" cy="1463040"/>
          </a:xfrm>
          <a:prstGeom prst="roundRect">
            <a:avLst>
              <a:gd name="adj" fmla="val 9375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2606040" y="26517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🥥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Coconut Bud Rot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2468880"/>
            <a:ext cx="1874520" cy="1463040"/>
          </a:xfrm>
          <a:prstGeom prst="roundRect">
            <a:avLst>
              <a:gd name="adj" fmla="val 9375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663440" y="26517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🌰</a:t>
            </a:r>
            <a:endParaRPr lang="en-US" sz="38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Cashew Dieback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720840" y="2468880"/>
            <a:ext cx="1874520" cy="1463040"/>
          </a:xfrm>
          <a:prstGeom prst="roundRect">
            <a:avLst>
              <a:gd name="adj" fmla="val 9375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720840" y="26517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🌿</a:t>
            </a:r>
            <a:endParaRPr lang="en-US" sz="38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Healthy Leaf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Leaf analysis + environmental conditions.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2926080" cy="292608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From Prediction to Farmer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280160"/>
            <a:ext cx="2468880" cy="3566160"/>
          </a:xfrm>
          <a:prstGeom prst="roundRect">
            <a:avLst>
              <a:gd name="adj" fmla="val 11111"/>
            </a:avLst>
          </a:prstGeom>
          <a:solidFill>
            <a:srgbClr val="06100E"/>
          </a:solidFill>
          <a:ln w="254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1737360"/>
            <a:ext cx="2194560" cy="2377440"/>
          </a:xfrm>
          <a:prstGeom prst="roundRect">
            <a:avLst>
              <a:gd name="adj" fmla="val 6250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5156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🚨 CROP RISK ALERT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4028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High waterlogging risk.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Heavy rain expected.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Check field drainage. Avoid unnecessary irrigation.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554480"/>
            <a:ext cx="2926080" cy="731520"/>
          </a:xfrm>
          <a:prstGeom prst="roundRect">
            <a:avLst>
              <a:gd name="adj" fmla="val 18750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206240" y="1554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AI Detection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32120" y="2313432"/>
            <a:ext cx="274320" cy="320040"/>
          </a:xfrm>
          <a:prstGeom prst="downArrow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206240" y="2651760"/>
            <a:ext cx="2926080" cy="731520"/>
          </a:xfrm>
          <a:prstGeom prst="roundRect">
            <a:avLst>
              <a:gd name="adj" fmla="val 18750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206240" y="2651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Advisory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32120" y="3410712"/>
            <a:ext cx="274320" cy="320040"/>
          </a:xfrm>
          <a:prstGeom prst="downArrow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06240" y="3749040"/>
            <a:ext cx="2926080" cy="731520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20624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1B1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SMS / WhatsApp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4480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No need to watch the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2926080" cy="292608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AI With Responsibility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1874520" cy="2286000"/>
          </a:xfrm>
          <a:prstGeom prst="roundRect">
            <a:avLst>
              <a:gd name="adj" fmla="val 7317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🔐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Data Minimization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Minimal personal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1874520" cy="2286000"/>
          </a:xfrm>
          <a:prstGeom prst="roundRect">
            <a:avLst>
              <a:gd name="adj" fmla="val 7317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606040" y="16459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👨‍🌾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Human in the Loop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AI supports experts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74520" cy="2286000"/>
          </a:xfrm>
          <a:prstGeom prst="roundRect">
            <a:avLst>
              <a:gd name="adj" fmla="val 7317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663440" y="16459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🔍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Explainable AI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Show the factors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463040"/>
            <a:ext cx="1874520" cy="2286000"/>
          </a:xfrm>
          <a:prstGeom prst="roundRect">
            <a:avLst>
              <a:gd name="adj" fmla="val 7317"/>
            </a:avLst>
          </a:prstGeom>
          <a:solidFill>
            <a:srgbClr val="0F221E"/>
          </a:solidFill>
          <a:ln w="9525">
            <a:solidFill>
              <a:srgbClr val="10B98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720840" y="16459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⚠️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Safe Advice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Humans verify decisions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Assist agricultural decisions — never blindly replace human expertise.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2926080" cy="292608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From Prototype to Goa-Wide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1554480"/>
            <a:ext cx="457200" cy="457200"/>
          </a:xfrm>
          <a:prstGeom prst="ellipse">
            <a:avLst/>
          </a:prstGeom>
          <a:solidFill>
            <a:srgbClr val="FBBF24"/>
          </a:solidFill>
          <a:ln w="1905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1B1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08760" y="1764792"/>
            <a:ext cx="704088" cy="27432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670048" y="1554480"/>
            <a:ext cx="457200" cy="457200"/>
          </a:xfrm>
          <a:prstGeom prst="ellipse">
            <a:avLst/>
          </a:prstGeom>
          <a:solidFill>
            <a:srgbClr val="0F221E"/>
          </a:solidFill>
          <a:ln w="190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67004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12848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Real Farm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72968" y="1764792"/>
            <a:ext cx="704088" cy="27432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34256" y="1554480"/>
            <a:ext cx="457200" cy="457200"/>
          </a:xfrm>
          <a:prstGeom prst="ellipse">
            <a:avLst/>
          </a:prstGeom>
          <a:solidFill>
            <a:srgbClr val="0F221E"/>
          </a:solidFill>
          <a:ln w="190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334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77056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Field Validation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37176" y="1764792"/>
            <a:ext cx="704088" cy="27432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98464" y="1554480"/>
            <a:ext cx="457200" cy="457200"/>
          </a:xfrm>
          <a:prstGeom prst="ellipse">
            <a:avLst/>
          </a:prstGeom>
          <a:solidFill>
            <a:srgbClr val="0F221E"/>
          </a:solidFill>
          <a:ln w="190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99846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41264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Govt Integration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01384" y="1764792"/>
            <a:ext cx="704088" cy="27432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662672" y="1554480"/>
            <a:ext cx="457200" cy="457200"/>
          </a:xfrm>
          <a:prstGeom prst="ellipse">
            <a:avLst/>
          </a:prstGeom>
          <a:solidFill>
            <a:srgbClr val="0F221E"/>
          </a:solidFill>
          <a:ln w="190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76626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Goa-Wide Rollout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Agriculture Dept  ·  KVKs  ·  Village services  ·  Farmer support  ·  SMS / WhatsApp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Weather changes. AI detects risk.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Farmers get warned. Action happens earlier.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2926080" cy="292608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ln w="12700">
            <a:solidFill>
              <a:srgbClr val="10B981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51760" y="274320"/>
            <a:ext cx="3840480" cy="3840480"/>
          </a:xfrm>
          <a:prstGeom prst="ellipse">
            <a:avLst/>
          </a:prstGeom>
          <a:ln w="12700">
            <a:solidFill>
              <a:srgbClr val="10B981">
                <a:alpha val="2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103120" y="-182880"/>
            <a:ext cx="4937760" cy="4937760"/>
          </a:xfrm>
          <a:prstGeom prst="ellipse">
            <a:avLst/>
          </a:prstGeom>
          <a:ln w="12700">
            <a:solidFill>
              <a:srgbClr val="10B981">
                <a:alpha val="19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54480" y="-640080"/>
            <a:ext cx="6035040" cy="6035040"/>
          </a:xfrm>
          <a:prstGeom prst="ellipse">
            <a:avLst/>
          </a:prstGeom>
          <a:ln w="12700">
            <a:solidFill>
              <a:srgbClr val="10B981">
                <a:alpha val="11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0" y="1005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🌱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0" y="18288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D399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AgriWatch Goa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Trebuchet MS" pitchFamily="34" charset="-122"/>
                <a:cs typeface="Trebuchet MS" pitchFamily="34" charset="-120"/>
              </a:rPr>
              <a:t>Detect Early. Act Early. Protect Crops.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AgriWatch Goa</dc:title>
  <dc:subject>PptxGenJS Presentation</dc:subject>
  <dc:creator>PptxGenJS</dc:creator>
  <cp:lastModifiedBy>PptxGenJS</cp:lastModifiedBy>
  <cp:revision>1</cp:revision>
  <dcterms:created xsi:type="dcterms:W3CDTF">2026-10-04T17:36:04Z</dcterms:created>
  <dcterms:modified xsi:type="dcterms:W3CDTF">2026-10-04T17:36:04Z</dcterms:modified>
</cp:coreProperties>
</file>